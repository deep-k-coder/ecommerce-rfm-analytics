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148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7A003C"/>
                </a:solidFill>
                <a:latin typeface="Arial"/>
              </a:defRPr>
            </a:pPr>
            <a:r>
              <a:t>INSTITUTE OF ADVANCED RESEARCH (IAR)</a:t>
            </a:r>
          </a:p>
          <a:p>
            <a:pPr algn="ctr">
              <a:defRPr sz="1100" i="1">
                <a:solidFill>
                  <a:srgbClr val="475569"/>
                </a:solidFill>
                <a:latin typeface="Arial"/>
              </a:defRPr>
            </a:pPr>
            <a:r>
              <a:t>The University for Innovation  |  Gandhinagar, Gujarat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2148840"/>
            <a:ext cx="6888175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148840"/>
            <a:ext cx="68881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THIRD PROGRESS WORK EVALUATION  •  27TH OCTOBER 2026  •  40 MARKS CUMULATIVE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1B4B"/>
                </a:solidFill>
                <a:latin typeface="Arial"/>
              </a:defRPr>
            </a:pPr>
            <a:r>
              <a:t>E-COMMERCE CUSTOMER LIFECYCLE &amp;</a:t>
            </a:r>
            <a:br/>
            <a:r>
              <a:t>RFM SEGMENTATION DASHBOARD</a:t>
            </a:r>
          </a:p>
          <a:p>
            <a:pPr algn="ctr">
              <a:defRPr sz="1300" i="1">
                <a:solidFill>
                  <a:srgbClr val="7A003C"/>
                </a:solidFill>
                <a:latin typeface="Arial"/>
              </a:defRPr>
            </a:pPr>
            <a:r>
              <a:t>Third Phase Technical Presentation: Sample Coding, Cybersecurity Controls, Execution &amp; 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PROJECT SCHOLAR</a:t>
            </a:r>
          </a:p>
          <a:p>
            <a:r>
              <a:rPr b="1" sz="1000">
                <a:solidFill>
                  <a:srgbClr val="0F172A"/>
                </a:solidFill>
              </a:rPr>
              <a:t>Candidate Name: </a:t>
            </a:r>
            <a:r>
              <a:rPr sz="1000">
                <a:solidFill>
                  <a:srgbClr val="0F172A"/>
                </a:solidFill>
              </a:rPr>
              <a:t>Mr. Deep Koshiya</a:t>
            </a:r>
          </a:p>
          <a:p>
            <a:r>
              <a:rPr b="1" sz="1000">
                <a:solidFill>
                  <a:srgbClr val="0F172A"/>
                </a:solidFill>
              </a:rPr>
              <a:t>Program: </a:t>
            </a:r>
            <a:r>
              <a:rPr sz="1000">
                <a:solidFill>
                  <a:srgbClr val="0F172A"/>
                </a:solidFill>
              </a:rPr>
              <a:t>B.Sc. in AI &amp; Data Science</a:t>
            </a:r>
          </a:p>
          <a:p>
            <a:r>
              <a:rPr b="1" sz="1000">
                <a:solidFill>
                  <a:srgbClr val="0F172A"/>
                </a:solidFill>
              </a:rPr>
              <a:t>Semester: </a:t>
            </a:r>
            <a:r>
              <a:rPr sz="1000">
                <a:solidFill>
                  <a:srgbClr val="0F172A"/>
                </a:solidFill>
              </a:rPr>
              <a:t>Semester V (5th Semester)</a:t>
            </a:r>
          </a:p>
          <a:p>
            <a:r>
              <a:rPr b="1" sz="1000">
                <a:solidFill>
                  <a:srgbClr val="0F172A"/>
                </a:solidFill>
              </a:rPr>
              <a:t>Academic Year: </a:t>
            </a:r>
            <a:r>
              <a:rPr sz="1000">
                <a:solidFill>
                  <a:srgbClr val="0F172A"/>
                </a:solidFill>
              </a:rPr>
              <a:t>2026 – 2027</a:t>
            </a:r>
          </a:p>
          <a:p>
            <a:r>
              <a:rPr b="1" sz="1000">
                <a:solidFill>
                  <a:srgbClr val="0F172A"/>
                </a:solidFill>
              </a:rPr>
              <a:t>Course: </a:t>
            </a:r>
            <a:r>
              <a:rPr sz="1000">
                <a:solidFill>
                  <a:srgbClr val="0F172A"/>
                </a:solidFill>
              </a:rPr>
              <a:t>Project - 1 (CE-502 / PRJ-701)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EVALUATION &amp; MILESTONE SCOPE</a:t>
            </a:r>
          </a:p>
          <a:p>
            <a:r>
              <a:rPr b="1" sz="1000">
                <a:solidFill>
                  <a:srgbClr val="0F172A"/>
                </a:solidFill>
              </a:rPr>
              <a:t>Milestone: </a:t>
            </a:r>
            <a:r>
              <a:rPr sz="1000">
                <a:solidFill>
                  <a:srgbClr val="0F172A"/>
                </a:solidFill>
              </a:rPr>
              <a:t>Third Progress Work Evaluation</a:t>
            </a:r>
          </a:p>
          <a:p>
            <a:r>
              <a:rPr b="1" sz="1000">
                <a:solidFill>
                  <a:srgbClr val="0F172A"/>
                </a:solidFill>
              </a:rPr>
              <a:t>Evaluation Date: </a:t>
            </a:r>
            <a:r>
              <a:rPr sz="1000">
                <a:solidFill>
                  <a:srgbClr val="0F172A"/>
                </a:solidFill>
              </a:rPr>
              <a:t>27th October 2026 (10 AM - 5 PM)</a:t>
            </a:r>
          </a:p>
          <a:p>
            <a:r>
              <a:rPr b="1" sz="1000">
                <a:solidFill>
                  <a:srgbClr val="0F172A"/>
                </a:solidFill>
              </a:rPr>
              <a:t>Curriculum Scope: </a:t>
            </a:r>
            <a:r>
              <a:rPr sz="1000">
                <a:solidFill>
                  <a:srgbClr val="0F172A"/>
                </a:solidFill>
              </a:rPr>
              <a:t>Sections 4.2, 4.3, 5.1, 5.2, 6.1</a:t>
            </a:r>
          </a:p>
          <a:p>
            <a:r>
              <a:rPr b="1" sz="1000">
                <a:solidFill>
                  <a:srgbClr val="0F172A"/>
                </a:solidFill>
              </a:rPr>
              <a:t>Cumulative Marks: </a:t>
            </a:r>
            <a:r>
              <a:rPr sz="1000">
                <a:solidFill>
                  <a:srgbClr val="0F172A"/>
                </a:solidFill>
              </a:rPr>
              <a:t>40 Marks Evaluated (10M + 20M + 10M)</a:t>
            </a:r>
          </a:p>
          <a:p>
            <a:r>
              <a:rPr b="1" sz="1000">
                <a:solidFill>
                  <a:srgbClr val="0F172A"/>
                </a:solidFill>
              </a:rPr>
              <a:t>Supervision: </a:t>
            </a:r>
            <a:r>
              <a:rPr sz="1000">
                <a:solidFill>
                  <a:srgbClr val="0F172A"/>
                </a:solidFill>
              </a:rPr>
              <a:t>Assigned Project Supervisor (IAR)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PROGRESSIVE ARCHITECTURE  •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Cumulative Project Architecture (Chapters 1 to 3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1. About the System (Ch. 1)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Problem Definition: </a:t>
            </a:r>
            <a:r>
              <a:rPr sz="950">
                <a:solidFill>
                  <a:srgbClr val="0F172A"/>
                </a:solidFill>
              </a:rPr>
              <a:t>Surging customer acquisition costs and lack of longitudinal cohort tracking in OLTP order logs.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Requirement Matrix: </a:t>
            </a:r>
            <a:r>
              <a:rPr sz="950">
                <a:solidFill>
                  <a:srgbClr val="0F172A"/>
                </a:solidFill>
              </a:rPr>
              <a:t>FR-01 to FR-06 data contracts, sub-5s latency, deterministic reproducibility (`seed=42`).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Technology Stack: </a:t>
            </a:r>
            <a:r>
              <a:rPr sz="950">
                <a:solidFill>
                  <a:srgbClr val="0F172A"/>
                </a:solidFill>
              </a:rPr>
              <a:t>Python 3.9, Pandas 2.3, NumPy 2.0, Scikit-Learn 1.6, SciPy, Tailwind CSS, Chart.js.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Architectural Decoupling: </a:t>
            </a:r>
            <a:r>
              <a:rPr sz="950">
                <a:solidFill>
                  <a:srgbClr val="0F172A"/>
                </a:solidFill>
              </a:rPr>
              <a:t>Raw data refinery separated from dimensional marts and presentation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2. UML &amp; DFD Design (Ch. 2)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Level 0, 1, 2 DFDs: </a:t>
            </a:r>
            <a:r>
              <a:rPr sz="950">
                <a:solidFill>
                  <a:srgbClr val="0F172A"/>
                </a:solidFill>
              </a:rPr>
              <a:t>Global system boundary, 5-stage transformation pipeline, and algorithmic decomposition.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Use Case Model: </a:t>
            </a:r>
            <a:r>
              <a:rPr sz="950">
                <a:solidFill>
                  <a:srgbClr val="0F172A"/>
                </a:solidFill>
              </a:rPr>
              <a:t>6 formal operational capabilities (UC-01 to UC-06) across 4 primary actors.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Class Diagram: </a:t>
            </a:r>
            <a:r>
              <a:rPr sz="950">
                <a:solidFill>
                  <a:srgbClr val="0F172A"/>
                </a:solidFill>
              </a:rPr>
              <a:t>Object domain model: TransactionRecord, CleanRefineryPipeline, RFMFeatureEngineer, KMeansEngine.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Sequence Diagram: </a:t>
            </a:r>
            <a:r>
              <a:rPr sz="950">
                <a:solidFill>
                  <a:srgbClr val="0F172A"/>
                </a:solidFill>
              </a:rPr>
              <a:t>11-step synchronous/asynchronous execution protocol across lifelines.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</a:defRPr>
            </a:pPr>
            <a:r>
              <a:t>3. Star-Schema Marts (Ch. 3)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FACT_TRANSACTIONS: </a:t>
            </a:r>
            <a:r>
              <a:rPr sz="950">
                <a:solidFill>
                  <a:srgbClr val="0F172A"/>
                </a:solidFill>
              </a:rPr>
              <a:t>Granular order facts with gross spend and foreign keys to dimensions.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FACT_REVERSALS: </a:t>
            </a:r>
            <a:r>
              <a:rPr sz="950">
                <a:solidFill>
                  <a:srgbClr val="0F172A"/>
                </a:solidFill>
              </a:rPr>
              <a:t>Audit ledger isolating credit notes ('^C') and negative items.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DIM_CUSTOMERS: </a:t>
            </a:r>
            <a:r>
              <a:rPr sz="950">
                <a:solidFill>
                  <a:srgbClr val="0F172A"/>
                </a:solidFill>
              </a:rPr>
              <a:t>Longitudinal customer profiles with Recency, Frequency, Spend, and 8 business tiers.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1B4B"/>
                </a:solidFill>
              </a:rPr>
              <a:t>• DIM_PRODUCTS &amp; DATE: </a:t>
            </a:r>
            <a:r>
              <a:rPr sz="950">
                <a:solidFill>
                  <a:srgbClr val="0F172A"/>
                </a:solidFill>
              </a:rPr>
              <a:t>Standardized SKU reference catalog and temporal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4.1  •  IMPLEMENTATION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Screen Layouts &amp; Operational Input Validations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screen_lay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396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4.1: Implementation Screen Layouts (4 Synchronized UI Views)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Input &amp; Operational Validations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VAL-01 (Scorecard Integrity): </a:t>
            </a:r>
            <a:r>
              <a:rPr sz="900">
                <a:solidFill>
                  <a:srgbClr val="0F172A"/>
                </a:solidFill>
              </a:rPr>
              <a:t>Enforces non-negative spend constraints (Spend &gt;= 0.00) and cross-checks active counts against distinct non-null IDs.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VAL-02 (Canvas Boundary Constraints): </a:t>
            </a:r>
            <a:r>
              <a:rPr sz="900">
                <a:solidFill>
                  <a:srgbClr val="0F172A"/>
                </a:solidFill>
              </a:rPr>
              <a:t>Scatterplot coordinates bounded to Recency [1..365], Frequency [1..50], Spend [0..10,000]. Hover tooltips validate customer existence.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VAL-03 (Search Sanitization): </a:t>
            </a:r>
            <a:r>
              <a:rPr sz="900">
                <a:solidFill>
                  <a:srgbClr val="0F172A"/>
                </a:solidFill>
              </a:rPr>
              <a:t>Client search input sanitized against script injection. Table pagination enforces integer bounds (1 &lt;= Page &lt;= MaxPage).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VAL-04 (Audit Quarantine Logic): </a:t>
            </a:r>
            <a:r>
              <a:rPr sz="900">
                <a:solidFill>
                  <a:srgbClr val="0F172A"/>
                </a:solidFill>
              </a:rPr>
              <a:t>Reversals strictly enforce cancellation regex ('^C') and negative quantities (Quantity &lt; 0) before insertion into audit stores.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4.2  •  IMPLEMENTATION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Sample Coding: Modular Pipeline Architecture (Excerpts)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003C"/>
                </a:solidFill>
                <a:latin typeface="Arial"/>
              </a:rPr>
              <a:t>1. Data Refinery &amp; Anomaly Quarantine (clean_refinery_pipeline.py)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  <a:latin typeface="Courier New"/>
              </a:rPr>
              <a:t>is_cancellation = df['InvoiceNo'].str.startswith('C', na=False) | (df['Quantity'] &lt;= 0)
reversals_df = df[is_cancellation].copy()
sales_df = df[~is_cancellation].copy()
reversals_df.to_csv(self.output_dir / 'fact_reversals_audit.csv', index=False)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9232"/>
            <a:ext cx="10728655" cy="1463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62895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2. Vectorized RFM Feature Extraction (rfm_feature_engineering.py)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  <a:latin typeface="Courier New"/>
              </a:rPr>
              <a:t>snapshot_date = df['InvoiceDate'].max() + pd.Timedelta(days=1)
rfm = df.groupby('CustomerID').agg({
    'InvoiceDate': lambda x: (snapshot_date - x.max()).days,
    'InvoiceNo': 'nunique', 'LineTotal': 'sum'
}).reset_index()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26864"/>
            <a:ext cx="10728655" cy="1463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0016"/>
            <a:ext cx="10362895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Arial"/>
              </a:rPr>
              <a:t>3. Skew-Resistant Feature Scaling &amp; K-Means (segmentation_engine.py)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  <a:latin typeface="Courier New"/>
              </a:rPr>
              <a:t>rfm_log = np.log1p(rfm_df[['Recency', 'Frequency', 'Monetary']])
scaler = StandardScaler()
rfm_scaled = scaler.fit_transform(rfm_log)
kmeans = KMeans(n_clusters=4, init='k-means++', random_state=42)
rfm_df['Cluster'] = kmeans.fit_predict(rfm_scaled)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4.2  •  SECURITY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Cybersecurity Controls &amp; Algorithmic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kmeans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54480"/>
            <a:ext cx="5943600" cy="24314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4.2: K-Means Inertia Elbow Curve &amp; Silhouette Diagnostic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5 Core Cybersecurity Tasks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1. PII Masking &amp; Privacy: </a:t>
            </a:r>
            <a:r>
              <a:rPr sz="880">
                <a:solidFill>
                  <a:srgbClr val="0F172A"/>
                </a:solidFill>
              </a:rPr>
              <a:t>Customer IDs synthesized into opaque alphanumeric strings (CUST-14911), preventing personal data leakage.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2. Input Sanitization: </a:t>
            </a:r>
            <a:r>
              <a:rPr sz="880">
                <a:solidFill>
                  <a:srgbClr val="0F172A"/>
                </a:solidFill>
              </a:rPr>
              <a:t>Client-side search sanitization rejects special characters, mitigating script injection and XSS.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3. Algorithmic Determinism: </a:t>
            </a:r>
            <a:r>
              <a:rPr sz="880">
                <a:solidFill>
                  <a:srgbClr val="0F172A"/>
                </a:solidFill>
              </a:rPr>
              <a:t>Fixed random state (seed=42) guarantees 100% reproducible cluster centroids across runtime environments.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4. Immutable Audit Ledger: </a:t>
            </a:r>
            <a:r>
              <a:rPr sz="880">
                <a:solidFill>
                  <a:srgbClr val="0F172A"/>
                </a:solidFill>
              </a:rPr>
              <a:t>Quarantined returns stored in fact_reversals_audit.csv with row integrity checks.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5. Safe Export Protocols: </a:t>
            </a:r>
            <a:r>
              <a:rPr sz="880">
                <a:solidFill>
                  <a:srgbClr val="0F172A"/>
                </a:solidFill>
              </a:rPr>
              <a:t>CSV audience downloads enforce header whitelisting to eliminate CSV formula injection vulnerabilities.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4.3  •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Steps of the Execution Project (Automated Pipeline Protocol)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2646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A003C"/>
                </a:solidFill>
              </a:rPr>
              <a:t>Step 1: Environment Setup &amp; Dependency Verification  </a:t>
            </a:r>
            <a:r>
              <a:rPr sz="950">
                <a:solidFill>
                  <a:srgbClr val="0F172A"/>
                </a:solidFill>
              </a:rPr>
              <a:t>• Initializes Python 3.9 virtual environment and verifies Pandas, NumPy, Scikit-Learn, and SciPy packages.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2563EB"/>
                </a:solidFill>
                <a:latin typeface="Courier New"/>
              </a:rPr>
              <a:t>$ source venv/bin/activate &amp;&amp; pip install -r requirements.txt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22576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A003C"/>
                </a:solidFill>
              </a:rPr>
              <a:t>Step 2: Synthetic Event Generation &amp; Ingestion  </a:t>
            </a:r>
            <a:r>
              <a:rPr sz="950">
                <a:solidFill>
                  <a:srgbClr val="0F172A"/>
                </a:solidFill>
              </a:rPr>
              <a:t>• Generates 15,000+ realistic transaction rows with Pareto spend distributions, cancellations, and guest sessions.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2563EB"/>
                </a:solidFill>
                <a:latin typeface="Courier New"/>
              </a:rPr>
              <a:t>$ python generate_dataset.py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73552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2841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A003C"/>
                </a:solidFill>
              </a:rPr>
              <a:t>Step 3: End-to-End Pipeline &amp; Star-Schema Build  </a:t>
            </a:r>
            <a:r>
              <a:rPr sz="950">
                <a:solidFill>
                  <a:srgbClr val="0F172A"/>
                </a:solidFill>
              </a:rPr>
              <a:t>• Executes data refinery, vectorized RFM feature extraction, K-Means clustering, and star-schema CSV mart exports.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2563EB"/>
                </a:solidFill>
                <a:latin typeface="Courier New"/>
              </a:rPr>
              <a:t>$ python main.py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24528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A003C"/>
                </a:solidFill>
              </a:rPr>
              <a:t>Step 4: Automated Testing &amp; Quality Assurance  </a:t>
            </a:r>
            <a:r>
              <a:rPr sz="950">
                <a:solidFill>
                  <a:srgbClr val="0F172A"/>
                </a:solidFill>
              </a:rPr>
              <a:t>• Executes unit and integration test suite validating schema typing, Tukey IQR fences, and cluster bounds.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2563EB"/>
                </a:solidFill>
                <a:latin typeface="Courier New"/>
              </a:rPr>
              <a:t>$ pytest tests/ -v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75504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A003C"/>
                </a:solidFill>
              </a:rPr>
              <a:t>Step 5: Executive Dashboard Launch &amp; Hosting  </a:t>
            </a:r>
            <a:r>
              <a:rPr sz="950">
                <a:solidFill>
                  <a:srgbClr val="0F172A"/>
                </a:solidFill>
              </a:rPr>
              <a:t>• Launches client-side executive dashboard on port 8000, serving KPI scorecards and interactive scatterplots.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2563EB"/>
                </a:solidFill>
                <a:latin typeface="Courier New"/>
              </a:rPr>
              <a:t>$ python -m http.server 8000 --directory dashboard/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4.3  •  DASHBOARD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Interactive Dashboard Navigation &amp; Visual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revenue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Figure 4.3: Segment Revenue Share Donut (72.5% Champions)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3369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spatial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4937760" cy="2715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571500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Figure 4.4: Multi-Dimensional Spatial RFM Bubble Scatterplot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CHAPTER 5  •  CONCLUSION &amp; ROADMAPS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Importance of Worked-Out Tasks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5.1 Importance of Worked-Out Tasks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Elimination of Analytical Distortion: </a:t>
            </a:r>
            <a:r>
              <a:rPr sz="900">
                <a:solidFill>
                  <a:srgbClr val="0F172A"/>
                </a:solidFill>
              </a:rPr>
              <a:t>Isolating returns into fact_reversals_audit.csv and capping bulk outliers ensures RFM reflects true consumer buying behavior.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Commercial Margin Optimization: </a:t>
            </a:r>
            <a:r>
              <a:rPr sz="900">
                <a:solidFill>
                  <a:srgbClr val="0F172A"/>
                </a:solidFill>
              </a:rPr>
              <a:t>Replacing blanket discounts with 8 behavioral tiers protects gross profit margins and focuses spend on high-value retention.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Enterprise Dimensional Governance: </a:t>
            </a:r>
            <a:r>
              <a:rPr sz="900">
                <a:solidFill>
                  <a:srgbClr val="0F172A"/>
                </a:solidFill>
              </a:rPr>
              <a:t>Star-schema dimensional mart allows commercial teams to query multi-dimensional customer features using SQL, Tableau, and Power BI.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Operational Activation: </a:t>
            </a:r>
            <a:r>
              <a:rPr sz="900">
                <a:solidFill>
                  <a:srgbClr val="0F172A"/>
                </a:solidFill>
              </a:rPr>
              <a:t>Interactive scorecards and CSV activation lists bridge the gap between machine learning models and daily marketing campaigns.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5.2 Further Enhancement in Future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Deep Learning CLV Forecasting: </a:t>
            </a:r>
            <a:r>
              <a:rPr sz="900">
                <a:solidFill>
                  <a:srgbClr val="0F172A"/>
                </a:solidFill>
              </a:rPr>
              <a:t>Implementing Recurrent Neural Networks (LSTM) and Transformers to predict customer lifetime value and churn probabilities.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Real-Time Streaming Ingestion: </a:t>
            </a:r>
            <a:r>
              <a:rPr sz="900">
                <a:solidFill>
                  <a:srgbClr val="0F172A"/>
                </a:solidFill>
              </a:rPr>
              <a:t>Migrating batch ingestion to Apache Kafka and Apache Spark Streaming for sub-second transaction processing.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Automated CRM Webhooks: </a:t>
            </a:r>
            <a:r>
              <a:rPr sz="900">
                <a:solidFill>
                  <a:srgbClr val="0F172A"/>
                </a:solidFill>
              </a:rPr>
              <a:t>Building RESTful webhooks to dispatch targeted cohorts automatically into HubSpot, Salesforce Marketing Cloud, and Klaviyo.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Multi-Touch Attribution: </a:t>
            </a:r>
            <a:r>
              <a:rPr sz="900">
                <a:solidFill>
                  <a:srgbClr val="0F172A"/>
                </a:solidFill>
              </a:rPr>
              <a:t>Incorporating Shapley Value and Markov Chain attribution models to quantify marketing touchpoint impact across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MILESTONE TRACKING  •  CE-502 / PRJ-701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References &amp; Complete Project Progress Work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Third Progress Work (27/10/2026)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Table 6.1: Complete Project Progress Work Evaluation Schedule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475569"/>
                </a:solidFill>
              </a:rPr>
              <a:t>• [24/09/2026]  First Progress Work Evaluation (10 Marks) — </a:t>
            </a:r>
            <a:r>
              <a:rPr b="1" sz="1000">
                <a:solidFill>
                  <a:srgbClr val="475569"/>
                </a:solidFill>
              </a:rPr>
              <a:t>COMPLETED &amp; VERIFIED
</a:t>
            </a:r>
            <a:r>
              <a:rPr sz="900">
                <a:solidFill>
                  <a:srgbClr val="0F172A"/>
                </a:solidFill>
              </a:rPr>
              <a:t>   Curriculum Scope: Sections 1.1, 1.2, 1.3, 2.1, 2.2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475569"/>
                </a:solidFill>
              </a:rPr>
              <a:t>• [13/10/2026]  Mid-Term Examination (Second Progress) (20 Marks) — </a:t>
            </a:r>
            <a:r>
              <a:rPr b="1" sz="1000">
                <a:solidFill>
                  <a:srgbClr val="475569"/>
                </a:solidFill>
              </a:rPr>
              <a:t>COMPLETED &amp; VERIFIED
</a:t>
            </a:r>
            <a:r>
              <a:rPr sz="900">
                <a:solidFill>
                  <a:srgbClr val="0F172A"/>
                </a:solidFill>
              </a:rPr>
              <a:t>   Curriculum Scope: Sections 2.3, 2.4, 3.1, 4.1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10B981"/>
                </a:solidFill>
              </a:rPr>
              <a:t>• [27/10/2026]  Third Progress Work Evaluation (10 Marks) — </a:t>
            </a:r>
            <a:r>
              <a:rPr b="1" sz="1000">
                <a:solidFill>
                  <a:srgbClr val="10B981"/>
                </a:solidFill>
              </a:rPr>
              <a:t>DEMONSTRATED (Current Submission)
</a:t>
            </a:r>
            <a:r>
              <a:rPr sz="900">
                <a:solidFill>
                  <a:srgbClr val="0F172A"/>
                </a:solidFill>
              </a:rPr>
              <a:t>   Curriculum Scope: Sections 4.2, 4.3, 5.1, 5.2, 6.1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2563EB"/>
                </a:solidFill>
              </a:rPr>
              <a:t>• [06/11/2026]  Report Submission (Spiral Binding) (10 Marks) — </a:t>
            </a:r>
            <a:r>
              <a:rPr b="1" sz="1000">
                <a:solidFill>
                  <a:srgbClr val="2563EB"/>
                </a:solidFill>
              </a:rPr>
              <a:t>Scheduled for Final Submission
</a:t>
            </a:r>
            <a:r>
              <a:rPr sz="900">
                <a:solidFill>
                  <a:srgbClr val="0F172A"/>
                </a:solidFill>
              </a:rPr>
              <a:t>   Curriculum Scope: Final Signed Spiral Copy &amp; Media</a:t>
            </a:r>
          </a:p>
          <a:p>
            <a:pPr>
              <a:spcBef>
                <a:spcPts val="700"/>
              </a:spcBef>
            </a:pPr>
            <a:r>
              <a:rPr b="1" sz="1050">
                <a:solidFill>
                  <a:srgbClr val="7A003C"/>
                </a:solidFill>
              </a:rPr>
              <a:t>• [18-20/11/2026]  Final Examination (SEE) (50 Marks) — </a:t>
            </a:r>
            <a:r>
              <a:rPr b="1" sz="1000">
                <a:solidFill>
                  <a:srgbClr val="7A003C"/>
                </a:solidFill>
              </a:rPr>
              <a:t>Scheduled for Semester Examination
</a:t>
            </a:r>
            <a:r>
              <a:rPr sz="900">
                <a:solidFill>
                  <a:srgbClr val="0F172A"/>
                </a:solidFill>
              </a:rPr>
              <a:t>   Curriculum Scope: Project Execution Demonstration &amp; Viva Voce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120640"/>
            <a:ext cx="10180015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THIRD PROGRESS MILESTONE STATUS (27/10/2026): </a:t>
            </a:r>
            <a:r>
              <a:rPr sz="950">
                <a:solidFill>
                  <a:srgbClr val="0F172A"/>
                </a:solidFill>
              </a:rPr>
              <a:t>Cumulative completion of 40 Marks across all progress work milestones (10M + 20M + 10M). All technical chapters (Chapters 1 to 6) fully implemented, documented, and validated.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720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4592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7A003C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1E1B4B"/>
                </a:solidFill>
                <a:latin typeface="Arial"/>
              </a:defRPr>
            </a:pPr>
            <a:r>
              <a:t>Questions &amp; Technical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108960"/>
            <a:ext cx="7619695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246120"/>
            <a:ext cx="70710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Arial"/>
              </a:defRPr>
            </a:pPr>
            <a:r>
              <a:t>E-COMMERCE CUSTOMER LIFECYCLE &amp; RFM SEGMENTATION DASHBOARD</a:t>
            </a:r>
          </a:p>
          <a:p>
            <a:pPr algn="ctr">
              <a:defRPr sz="850">
                <a:solidFill>
                  <a:srgbClr val="7A003C"/>
                </a:solidFill>
              </a:defRPr>
            </a:pPr>
            <a:r>
              <a:t>━━━━━━━━━━━━━━━━━━━━━━━━━━━━━━━━━━━━━━━━━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Candidate: </a:t>
            </a:r>
            <a:r>
              <a:rPr sz="1000">
                <a:solidFill>
                  <a:srgbClr val="475569"/>
                </a:solidFill>
              </a:rPr>
              <a:t>Mr. Deep Koshiya (B.Sc. in AI &amp; Data Science, Semester V)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Institution: </a:t>
            </a:r>
            <a:r>
              <a:rPr sz="1000">
                <a:solidFill>
                  <a:srgbClr val="475569"/>
                </a:solidFill>
              </a:rPr>
              <a:t>Institute of Advanced Research (IAR), Gandhinagar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Assessment Milestone: </a:t>
            </a:r>
            <a:r>
              <a:rPr sz="1000">
                <a:solidFill>
                  <a:srgbClr val="475569"/>
                </a:solidFill>
              </a:rPr>
              <a:t>Third Progress Work Evaluation (27/10/2026  •  10 Marks)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Course &amp; Project: </a:t>
            </a:r>
            <a:r>
              <a:rPr sz="1000">
                <a:solidFill>
                  <a:srgbClr val="475569"/>
                </a:solidFill>
              </a:rPr>
              <a:t>Project - 1 (CE-502 / PRJ-701)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GitHub Repository: </a:t>
            </a:r>
            <a:r>
              <a:rPr sz="1000">
                <a:solidFill>
                  <a:srgbClr val="475569"/>
                </a:solidFill>
              </a:rPr>
              <a:t>https://github.com/Deep-k-coder/ecommerce-rfm-analytics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Project Status: </a:t>
            </a:r>
            <a:r>
              <a:rPr sz="1000">
                <a:solidFill>
                  <a:srgbClr val="475569"/>
                </a:solidFill>
              </a:rPr>
              <a:t>Chapters 1 through 6 Complete; Ready for Final Spiral Binding &amp; SEE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