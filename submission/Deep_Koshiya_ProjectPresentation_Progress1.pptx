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ar_banner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1480"/>
            <a:ext cx="5029200" cy="876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50876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7A003C"/>
                </a:solidFill>
                <a:latin typeface="Arial"/>
              </a:defRPr>
            </a:pPr>
            <a:r>
              <a:t>INSTITUTE OF ADVANCED RESEARCH (IAR)</a:t>
            </a:r>
          </a:p>
          <a:p>
            <a:pPr algn="ctr">
              <a:defRPr sz="1100" i="1">
                <a:solidFill>
                  <a:srgbClr val="475569"/>
                </a:solidFill>
                <a:latin typeface="Arial"/>
              </a:defRPr>
            </a:pPr>
            <a:r>
              <a:t>The University for Innovation  |  Gandhinagar, Gujarat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148840"/>
            <a:ext cx="6339535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148840"/>
            <a:ext cx="633953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FIRST PROGRESS WORK PRESENTATION  •  24TH SEPTEMBER 2026  •  10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3628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1B4B"/>
                </a:solidFill>
                <a:latin typeface="Arial"/>
              </a:defRPr>
            </a:pPr>
            <a:r>
              <a:t>E-COMMERCE CUSTOMER LIFECYCLE &amp;</a:t>
            </a:r>
            <a:br/>
            <a:r>
              <a:t>RFM SEGMENTATION DASHBOARD</a:t>
            </a:r>
          </a:p>
          <a:p>
            <a:pPr algn="ctr">
              <a:defRPr sz="1300" i="1">
                <a:solidFill>
                  <a:srgbClr val="7A003C"/>
                </a:solidFill>
                <a:latin typeface="Arial"/>
              </a:defRPr>
            </a:pPr>
            <a:r>
              <a:t>An Applied Machine Learning &amp; Analytics Engineering System for Behavioral Cohort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114800"/>
            <a:ext cx="45720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003C"/>
                </a:solidFill>
                <a:latin typeface="Arial"/>
              </a:defRPr>
            </a:pPr>
            <a:r>
              <a:t>PROJECT SCHOLAR</a:t>
            </a:r>
          </a:p>
          <a:p>
            <a:r>
              <a:rPr b="1" sz="1000">
                <a:solidFill>
                  <a:srgbClr val="0F172A"/>
                </a:solidFill>
              </a:rPr>
              <a:t>Candidate Name: </a:t>
            </a:r>
            <a:r>
              <a:rPr sz="1000">
                <a:solidFill>
                  <a:srgbClr val="0F172A"/>
                </a:solidFill>
              </a:rPr>
              <a:t>Mr. Deep Koshiya</a:t>
            </a:r>
          </a:p>
          <a:p>
            <a:r>
              <a:rPr b="1" sz="1000">
                <a:solidFill>
                  <a:srgbClr val="0F172A"/>
                </a:solidFill>
              </a:rPr>
              <a:t>Program: </a:t>
            </a:r>
            <a:r>
              <a:rPr sz="1000">
                <a:solidFill>
                  <a:srgbClr val="0F172A"/>
                </a:solidFill>
              </a:rPr>
              <a:t>B.Sc. in AI &amp; Data Science</a:t>
            </a:r>
          </a:p>
          <a:p>
            <a:r>
              <a:rPr b="1" sz="1000">
                <a:solidFill>
                  <a:srgbClr val="0F172A"/>
                </a:solidFill>
              </a:rPr>
              <a:t>Semester: </a:t>
            </a:r>
            <a:r>
              <a:rPr sz="1000">
                <a:solidFill>
                  <a:srgbClr val="0F172A"/>
                </a:solidFill>
              </a:rPr>
              <a:t>Semester V (5th Semester)</a:t>
            </a:r>
          </a:p>
          <a:p>
            <a:r>
              <a:rPr b="1" sz="1000">
                <a:solidFill>
                  <a:srgbClr val="0F172A"/>
                </a:solidFill>
              </a:rPr>
              <a:t>Academic Year: </a:t>
            </a:r>
            <a:r>
              <a:rPr sz="1000">
                <a:solidFill>
                  <a:srgbClr val="0F172A"/>
                </a:solidFill>
              </a:rPr>
              <a:t>2026 – 2027</a:t>
            </a:r>
          </a:p>
          <a:p>
            <a:r>
              <a:rPr b="1" sz="1000">
                <a:solidFill>
                  <a:srgbClr val="0F172A"/>
                </a:solidFill>
              </a:rPr>
              <a:t>Course: </a:t>
            </a:r>
            <a:r>
              <a:rPr sz="1000">
                <a:solidFill>
                  <a:srgbClr val="0F172A"/>
                </a:solidFill>
              </a:rPr>
              <a:t>Project - 1 (CE-502 / PRJ-701)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45720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519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A003C"/>
                </a:solidFill>
                <a:latin typeface="Arial"/>
              </a:defRPr>
            </a:pPr>
            <a:r>
              <a:t>EVALUATION &amp; MILESTONE SCOPE</a:t>
            </a:r>
          </a:p>
          <a:p>
            <a:r>
              <a:rPr b="1" sz="1000">
                <a:solidFill>
                  <a:srgbClr val="0F172A"/>
                </a:solidFill>
              </a:rPr>
              <a:t>Milestone: </a:t>
            </a:r>
            <a:r>
              <a:rPr sz="1000">
                <a:solidFill>
                  <a:srgbClr val="0F172A"/>
                </a:solidFill>
              </a:rPr>
              <a:t>First Progress Work Evaluation</a:t>
            </a:r>
          </a:p>
          <a:p>
            <a:r>
              <a:rPr b="1" sz="1000">
                <a:solidFill>
                  <a:srgbClr val="0F172A"/>
                </a:solidFill>
              </a:rPr>
              <a:t>Evaluation Date: </a:t>
            </a:r>
            <a:r>
              <a:rPr sz="1000">
                <a:solidFill>
                  <a:srgbClr val="0F172A"/>
                </a:solidFill>
              </a:rPr>
              <a:t>24th September 2026 (10 AM - 5 PM)</a:t>
            </a:r>
          </a:p>
          <a:p>
            <a:r>
              <a:rPr b="1" sz="1000">
                <a:solidFill>
                  <a:srgbClr val="0F172A"/>
                </a:solidFill>
              </a:rPr>
              <a:t>Marks Allotted: </a:t>
            </a:r>
            <a:r>
              <a:rPr sz="1000">
                <a:solidFill>
                  <a:srgbClr val="0F172A"/>
                </a:solidFill>
              </a:rPr>
              <a:t>10 Marks (Curriculum Deliverable)</a:t>
            </a:r>
          </a:p>
          <a:p>
            <a:r>
              <a:rPr b="1" sz="1000">
                <a:solidFill>
                  <a:srgbClr val="0F172A"/>
                </a:solidFill>
              </a:rPr>
              <a:t>Syllabus Scope: </a:t>
            </a:r>
            <a:r>
              <a:rPr sz="1000">
                <a:solidFill>
                  <a:srgbClr val="0F172A"/>
                </a:solidFill>
              </a:rPr>
              <a:t>Sections 1.1, 1.2, 1.3, 2.1, 2.2</a:t>
            </a:r>
          </a:p>
          <a:p>
            <a:r>
              <a:rPr b="1" sz="1000">
                <a:solidFill>
                  <a:srgbClr val="0F172A"/>
                </a:solidFill>
              </a:rPr>
              <a:t>Supervision: </a:t>
            </a:r>
            <a:r>
              <a:rPr sz="1000">
                <a:solidFill>
                  <a:srgbClr val="0F172A"/>
                </a:solidFill>
              </a:rPr>
              <a:t>Assigned Project Supervisor (IAR)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1.1  •  ABOUT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Problem Definition &amp; Commercial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A003C"/>
                </a:solidFill>
              </a:defRPr>
            </a:pPr>
            <a:r>
              <a:t>1. Commercial Retention Dilemma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Surging Acquisition Costs: </a:t>
            </a:r>
            <a:r>
              <a:rPr sz="1000">
                <a:solidFill>
                  <a:srgbClr val="0F172A"/>
                </a:solidFill>
              </a:rPr>
              <a:t>Digital advertising CAC has increased over 60%, making organic customer retention the primary driver of profitability.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Homogenous Marketing: </a:t>
            </a:r>
            <a:r>
              <a:rPr sz="1000">
                <a:solidFill>
                  <a:srgbClr val="0F172A"/>
                </a:solidFill>
              </a:rPr>
              <a:t>Treating all shoppers equally leads to margin-eroding discounts for customers who would have purchased anyway.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Undetected Churn Risk: </a:t>
            </a:r>
            <a:r>
              <a:rPr sz="1000">
                <a:solidFill>
                  <a:srgbClr val="0F172A"/>
                </a:solidFill>
              </a:rPr>
              <a:t>Historically high-value accounts slip into dormancy silently without early churn detection triggers.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Missed Lifetime Value: </a:t>
            </a:r>
            <a:r>
              <a:rPr sz="1000">
                <a:solidFill>
                  <a:srgbClr val="0F172A"/>
                </a:solidFill>
              </a:rPr>
              <a:t>E-commerce retailers fail to identify and nurture accounts transitioning into Champions.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A003C"/>
                </a:solidFill>
              </a:defRPr>
            </a:pPr>
            <a:r>
              <a:t>2. Limitations of OLTP Systems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Order-Centric Storage: </a:t>
            </a:r>
            <a:r>
              <a:rPr sz="1000">
                <a:solidFill>
                  <a:srgbClr val="0F172A"/>
                </a:solidFill>
              </a:rPr>
              <a:t>Traditional databases record individual shopping transactions, not longitudinal customer behavioral lifecycles.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Data Quality Deficits: </a:t>
            </a:r>
            <a:r>
              <a:rPr sz="1000">
                <a:solidFill>
                  <a:srgbClr val="0F172A"/>
                </a:solidFill>
              </a:rPr>
              <a:t>Event logs contain guest checkouts lacking CustomerID, cancellations, and administrative line-items.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Distribution Anomalies: </a:t>
            </a:r>
            <a:r>
              <a:rPr sz="1000">
                <a:solidFill>
                  <a:srgbClr val="0F172A"/>
                </a:solidFill>
              </a:rPr>
              <a:t>Extreme wholesale B2B distributor purchases contaminate standard consumer metrics.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No Analytical Layer: </a:t>
            </a:r>
            <a:r>
              <a:rPr sz="1000">
                <a:solidFill>
                  <a:srgbClr val="0F172A"/>
                </a:solidFill>
              </a:rPr>
              <a:t>Decision-makers lack an automated transformation pipeline bridging raw order rows with strategic marketing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50876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A003C"/>
                </a:solidFill>
              </a:defRPr>
            </a:pPr>
            <a:r>
              <a:t>3. Targeted Project Solution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Automated Refinery: </a:t>
            </a:r>
            <a:r>
              <a:rPr sz="1000">
                <a:solidFill>
                  <a:srgbClr val="0F172A"/>
                </a:solidFill>
              </a:rPr>
              <a:t>Cleanses raw transactions, isolates reversals into an audit ledger, and caps outliers via Tukey IQR fences.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Vectorized RFM Feature Store: </a:t>
            </a:r>
            <a:r>
              <a:rPr sz="1000">
                <a:solidFill>
                  <a:srgbClr val="0F172A"/>
                </a:solidFill>
              </a:rPr>
              <a:t>Aggregates transactions into Recency, Frequency, Monetary spend, and Average Order Value (AOV).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Skew-Resistant ML Clustering: </a:t>
            </a:r>
            <a:r>
              <a:rPr sz="1000">
                <a:solidFill>
                  <a:srgbClr val="0F172A"/>
                </a:solidFill>
              </a:rPr>
              <a:t>Applies log1p and StandardScaler before K-Means modeling, validated via Silhouette diagnostics.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1B4B"/>
                </a:solidFill>
              </a:rPr>
              <a:t>• Executive BI Dashboard: </a:t>
            </a:r>
            <a:r>
              <a:rPr sz="1000">
                <a:solidFill>
                  <a:srgbClr val="0F172A"/>
                </a:solidFill>
              </a:rPr>
              <a:t>Interactive web UI with portfolio KPI scorecards, spatial scatterplots, and exportable CRM cohorts.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1.2  •  PRODUCT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Requirement Specifications (Functional &amp; Non-Functional)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Functional Requirements Specifications (FR-01 to FR-06)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FR-01: Ingestion &amp; Schema Typing: </a:t>
            </a:r>
            <a:r>
              <a:rPr sz="900">
                <a:solidFill>
                  <a:srgbClr val="0F172A"/>
                </a:solidFill>
              </a:rPr>
              <a:t>Ingests raw CSV streams, validates typing (InvoiceDate to datetime64[ns], Quantity/UnitPrice to floats), and sanitizes SKU descriptions.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FR-02: Missing Entity Resolution: </a:t>
            </a:r>
            <a:r>
              <a:rPr sz="900">
                <a:solidFill>
                  <a:srgbClr val="0F172A"/>
                </a:solidFill>
              </a:rPr>
              <a:t>Detects and filters guest checkouts missing CustomerID to protect longitudinal cohort integrity.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FR-03: Reverse Logistics Isolation: </a:t>
            </a:r>
            <a:r>
              <a:rPr sz="900">
                <a:solidFill>
                  <a:srgbClr val="0F172A"/>
                </a:solidFill>
              </a:rPr>
              <a:t>Routes cancellations ('^C') and credit adjustments to an isolated audit store (fact_reversals_audit.csv) without distorting purchase counts.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FR-04: Tukey IQR Outlier Capping: </a:t>
            </a:r>
            <a:r>
              <a:rPr sz="900">
                <a:solidFill>
                  <a:srgbClr val="0F172A"/>
                </a:solidFill>
              </a:rPr>
              <a:t>Applies fences [Q1 - 1.5*IQR, Q3 + 1.5*IQR] on Quantity and Price, neutralizing bulk distributor volume spikes.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FR-05: Vectorized RFM Derivation: </a:t>
            </a:r>
            <a:r>
              <a:rPr sz="900">
                <a:solidFill>
                  <a:srgbClr val="0F172A"/>
                </a:solidFill>
              </a:rPr>
              <a:t>Computes Recency days relative to T_obs = max(Date) + 1, Frequency (distinct visits), and cumulative Monetary spend.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FR-06: ML Clustering &amp; Scoring: </a:t>
            </a:r>
            <a:r>
              <a:rPr sz="900">
                <a:solidFill>
                  <a:srgbClr val="0F172A"/>
                </a:solidFill>
              </a:rPr>
              <a:t>Standardizes features via log1p and StandardScaler, fits K-Means, and assigns 1–5 quantile scores mapping to 8 business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371600"/>
            <a:ext cx="423641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50876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Non-Functional Requirements (NFR)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NFR-01 (Latency): </a:t>
            </a:r>
            <a:r>
              <a:rPr sz="900">
                <a:solidFill>
                  <a:srgbClr val="0F172A"/>
                </a:solidFill>
              </a:rPr>
              <a:t>Processes 15,000+ orders in &lt;5.0 seconds using vectorized Pandas C-routines.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NFR-02 (Reproducibility): </a:t>
            </a:r>
            <a:r>
              <a:rPr sz="900">
                <a:solidFill>
                  <a:srgbClr val="0F172A"/>
                </a:solidFill>
              </a:rPr>
              <a:t>Fixed seed (seed=42) guarantees 100% deterministic clustering across platforms.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NFR-03 (Modularity): </a:t>
            </a:r>
            <a:r>
              <a:rPr sz="900">
                <a:solidFill>
                  <a:srgbClr val="0F172A"/>
                </a:solidFill>
              </a:rPr>
              <a:t>Clean star schema data marts (FACT_TRANSACTIONS, DIM_CUSTOMERS).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840480"/>
            <a:ext cx="4236415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977639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A003C"/>
                </a:solidFill>
              </a:defRPr>
            </a:pPr>
            <a:r>
              <a:t>Table 1.1: System Environment Matrix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E1B4B"/>
                </a:solidFill>
              </a:rPr>
              <a:t>Hardware / CPU: </a:t>
            </a:r>
            <a:r>
              <a:rPr sz="900">
                <a:solidFill>
                  <a:srgbClr val="0F172A"/>
                </a:solidFill>
              </a:rPr>
              <a:t>Apple Silicon M-Series / Intel Core i5/i7 (8-Core+)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E1B4B"/>
                </a:solidFill>
              </a:rPr>
              <a:t>System Memory: </a:t>
            </a:r>
            <a:r>
              <a:rPr sz="900">
                <a:solidFill>
                  <a:srgbClr val="0F172A"/>
                </a:solidFill>
              </a:rPr>
              <a:t>8 GB to 16 GB Unified Memory (Min: 4 GB)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E1B4B"/>
                </a:solidFill>
              </a:rPr>
              <a:t>Storage Drive: </a:t>
            </a:r>
            <a:r>
              <a:rPr sz="900">
                <a:solidFill>
                  <a:srgbClr val="0F172A"/>
                </a:solidFill>
              </a:rPr>
              <a:t>Solid State Drive (NVMe SSD)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E1B4B"/>
                </a:solidFill>
              </a:rPr>
              <a:t>Operating System: </a:t>
            </a:r>
            <a:r>
              <a:rPr sz="900">
                <a:solidFill>
                  <a:srgbClr val="0F172A"/>
                </a:solidFill>
              </a:rPr>
              <a:t>macOS Darwin (Unix POSIX) / Linux / Win10+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1E1B4B"/>
                </a:solidFill>
              </a:rPr>
              <a:t>Runtime &amp; Stack: </a:t>
            </a:r>
            <a:r>
              <a:rPr sz="900">
                <a:solidFill>
                  <a:srgbClr val="0F172A"/>
                </a:solidFill>
              </a:rPr>
              <a:t>Python 3.9+, Modern Web Browser,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1.3  •  ARCHITECTURE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Tools &amp; Technology Stack (Multi-Layer 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7A003C"/>
                </a:solidFill>
                <a:latin typeface="Arial"/>
              </a:rPr>
              <a:t>1. DATA REFINERY &amp; INGESTION LAYER  </a:t>
            </a:r>
            <a:r>
              <a:rPr sz="1050" b="1">
                <a:solidFill>
                  <a:srgbClr val="0F172A"/>
                </a:solidFill>
                <a:latin typeface="Arial"/>
              </a:rPr>
              <a:t>—  Python 3.9+  •  Pandas (v2.3.3)  •  NumPy (v2.0.2)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Arial"/>
              </a:rPr>
              <a:t>High-throughput tabular ingestion, schema typing, null elimination, reverse logistics isolation, and vectorized Tukey IQR outlier calculations.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87752"/>
            <a:ext cx="10728655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Arial"/>
              </a:rPr>
              <a:t>2. MACHINE LEARNING &amp; STATISTICAL MODELING  </a:t>
            </a:r>
            <a:r>
              <a:rPr sz="1050" b="1">
                <a:solidFill>
                  <a:srgbClr val="0F172A"/>
                </a:solidFill>
                <a:latin typeface="Arial"/>
              </a:rPr>
              <a:t>—  Scikit-Learn (v1.6.1)  •  SciPy (v1.13.1)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Arial"/>
              </a:rPr>
              <a:t>Log1p transformation for Pareto skew compression, StandardScaler normalization, K-Means clustering with k-means++ centroid initialization, and Silhouette score diagnostics.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03904"/>
            <a:ext cx="10728655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77056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Arial"/>
              </a:rPr>
              <a:t>3. DIMENSIONAL STORAGE &amp; STAR SCHEMA  </a:t>
            </a:r>
            <a:r>
              <a:rPr sz="1050" b="1">
                <a:solidFill>
                  <a:srgbClr val="0F172A"/>
                </a:solidFill>
                <a:latin typeface="Arial"/>
              </a:rPr>
              <a:t>—  Analytical Star Schema Data Marts  •  CSV / Parquet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Arial"/>
              </a:rPr>
              <a:t>Decoupled fact and dimension storage (FACT_TRANSACTIONS, FACT_REVERSALS, DIM_CUSTOMERS) designed for BI compatibility with Tableau and Power BI.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0056"/>
            <a:ext cx="10728655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93208"/>
            <a:ext cx="10362895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E1B4B"/>
                </a:solidFill>
                <a:latin typeface="Arial"/>
              </a:rPr>
              <a:t>4. EXECUTIVE BI DASHBOARD &amp; ACTIVATION  </a:t>
            </a:r>
            <a:r>
              <a:rPr sz="1050" b="1">
                <a:solidFill>
                  <a:srgbClr val="0F172A"/>
                </a:solidFill>
                <a:latin typeface="Arial"/>
              </a:rPr>
              <a:t>—  HTML5  •  Tailwind CSS  •  Chart.js 4.x  •  Git &amp; GitHub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475569"/>
                </a:solidFill>
                <a:latin typeface="Arial"/>
              </a:rPr>
              <a:t>Client-side canvas graphing engine rendering revenue donuts, spatial RFM bubble charts, KPI scorecards, and searchable CRM activation grids.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2.1  •  SYSTEM DESIGN USING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Level 0 Data Flow Diagram (Context Architecture)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585216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2.1: Level 0 Context Data Flow Diagram (Macro Boundary)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Context Boundary &amp; Entity Interfaces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Process 0.0 (Global Boundary): </a:t>
            </a:r>
            <a:r>
              <a:rPr sz="900">
                <a:solidFill>
                  <a:srgbClr val="0F172A"/>
                </a:solidFill>
              </a:rPr>
              <a:t>Represents the complete 'E-Commerce Customer Lifecycle &amp; RFM Analytics System' interacting with 4 primary external entities.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1. OLTP Sales Stream: </a:t>
            </a:r>
            <a:r>
              <a:rPr sz="900">
                <a:solidFill>
                  <a:srgbClr val="0F172A"/>
                </a:solidFill>
              </a:rPr>
              <a:t>Provides high-frequency transaction logs containing InvoiceNo, StockCode, Quantity, InvoiceDate, UnitPrice, and CustomerID.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2. Data Scientist: </a:t>
            </a:r>
            <a:r>
              <a:rPr sz="900">
                <a:solidFill>
                  <a:srgbClr val="0F172A"/>
                </a:solidFill>
              </a:rPr>
              <a:t>Supplies IQR outlier tuning multipliers, cluster count hyperparameters (k in [2..6]), and evaluates validation diagnostics.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3. CRM Marketing Engine: </a:t>
            </a:r>
            <a:r>
              <a:rPr sz="900">
                <a:solidFill>
                  <a:srgbClr val="0F172A"/>
                </a:solidFill>
              </a:rPr>
              <a:t>Consumes segmented customer lists ('Champions', 'At Risk Whales') for programmatic email, SMS, and ad audience targeting.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1B4B"/>
                </a:solidFill>
              </a:rPr>
              <a:t>• 4. Commercial Executives: </a:t>
            </a:r>
            <a:r>
              <a:rPr sz="900">
                <a:solidFill>
                  <a:srgbClr val="0F172A"/>
                </a:solidFill>
              </a:rPr>
              <a:t>Receives interactive executive KPI scorecards, segment revenue distribution, and churn risk summaries.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2.1  • 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Level 1 Data Flow Diagram (End-to-End Analytics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5852160" cy="2926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2.2: Level 1 Data Flow Diagram (Pipeline Architecture)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5 Sequential Pipeline Transformations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Process 1.0 (Ingestion &amp; Schema Typing): </a:t>
            </a:r>
            <a:r>
              <a:rPr sz="900">
                <a:solidFill>
                  <a:srgbClr val="0F172A"/>
                </a:solidFill>
              </a:rPr>
              <a:t>Parses raw streams, validates typing, and logs records to D1 (Raw Transaction Log).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Process 2.0 (Data Quality &amp; Refinery): </a:t>
            </a:r>
            <a:r>
              <a:rPr sz="900">
                <a:solidFill>
                  <a:srgbClr val="0F172A"/>
                </a:solidFill>
              </a:rPr>
              <a:t>Drops guest IDs, routes returns to D2 (Reversals Audit Ledger), and applies Tukey IQR fences.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Process 3.0 (Vectorized RFM Feature Extraction): </a:t>
            </a:r>
            <a:r>
              <a:rPr sz="900">
                <a:solidFill>
                  <a:srgbClr val="0F172A"/>
                </a:solidFill>
              </a:rPr>
              <a:t>Computes Recency, Frequency, Spend, and AOV, writing to D3 (RFM Analytical Base Table).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Process 4.0 (ML Clustering &amp; Quantile Scoring): </a:t>
            </a:r>
            <a:r>
              <a:rPr sz="900">
                <a:solidFill>
                  <a:srgbClr val="0F172A"/>
                </a:solidFill>
              </a:rPr>
              <a:t>Executes log1p scaling, StandardScaler, K-Means, and 1–5 scoring into D4 (Segmented Customer Mart).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1E1B4B"/>
                </a:solidFill>
              </a:rPr>
              <a:t>• Process 5.0 (Star Schema &amp; Dashboard): </a:t>
            </a:r>
            <a:r>
              <a:rPr sz="900">
                <a:solidFill>
                  <a:srgbClr val="0F172A"/>
                </a:solidFill>
              </a:rPr>
              <a:t>Publishes BI data marts and powers the interactive executive web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2.1  •  PROCESS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Level 2 Data Flow Diagram (Refinery &amp; ML Decomposition)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621792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dfd_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852160" cy="2438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6217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2.3: Level 2 Data Flow Diagram (Detailed Decomposition)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71600"/>
            <a:ext cx="423641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50876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Algorithmic &amp; Mathematical Decomposition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Sub-Process 2.1 (Null ID Purge): </a:t>
            </a:r>
            <a:r>
              <a:rPr sz="880">
                <a:solidFill>
                  <a:srgbClr val="0F172A"/>
                </a:solidFill>
              </a:rPr>
              <a:t>Validates CustomerID existence; drops unauthenticated guest sessions.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Sub-Process 2.2 (Reversals Filter): </a:t>
            </a:r>
            <a:r>
              <a:rPr sz="880">
                <a:solidFill>
                  <a:srgbClr val="0F172A"/>
                </a:solidFill>
              </a:rPr>
              <a:t>Detects cancellation identifiers ('^C' or negative Quantity) and exports to fact_reversals_audit.csv.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Sub-Process 2.3 (Tukey IQR Capping): </a:t>
            </a:r>
            <a:r>
              <a:rPr sz="880">
                <a:solidFill>
                  <a:srgbClr val="0F172A"/>
                </a:solidFill>
              </a:rPr>
              <a:t>Computes [Q1 - 1.5*IQR, Q3 + 1.5*IQR] to eliminate wholesale bulk distributor anomalies.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Sub-Process 4.1 (Log1p Scaling): </a:t>
            </a:r>
            <a:r>
              <a:rPr sz="880">
                <a:solidFill>
                  <a:srgbClr val="0F172A"/>
                </a:solidFill>
              </a:rPr>
              <a:t>Applies z = ln(1 + x) to compress severe right-skewed Pareto customer spending.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Sub-Process 4.2 (StandardScaler): </a:t>
            </a:r>
            <a:r>
              <a:rPr sz="880">
                <a:solidFill>
                  <a:srgbClr val="0F172A"/>
                </a:solidFill>
              </a:rPr>
              <a:t>Transforms features to zero mean and unit variance for distance-based clustering.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• Sub-Process 4.3 (K-Means &amp; Silhouette): </a:t>
            </a:r>
            <a:r>
              <a:rPr sz="880">
                <a:solidFill>
                  <a:srgbClr val="0F172A"/>
                </a:solidFill>
              </a:rPr>
              <a:t>Fits K-Means across k in [2..6], diagnosing optimal clusters via Silhouette coefficient.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SECTION 2.2  •  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UML Use Case Diagram &amp; Actor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00200"/>
            <a:ext cx="4572000" cy="2971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Figure 2.4: UML Use Case Diagram (Actors &amp; Capabilities)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7A003C"/>
                </a:solidFill>
              </a:defRPr>
            </a:pPr>
            <a:r>
              <a:t>Table 2.1: Use Case Specification Matrix (UC-01 to UC-06)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UC-01: Ingest Transaction Stream [Data Engineer / Admin]: </a:t>
            </a:r>
            <a:r>
              <a:rPr sz="880">
                <a:solidFill>
                  <a:srgbClr val="0F172A"/>
                </a:solidFill>
              </a:rPr>
              <a:t>Ingests raw event logs, enforces schema typing, verifies datatypes.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UC-02: Isolate Reversals &amp; IQR Filter [Data Engineer / Admin]: </a:t>
            </a:r>
            <a:r>
              <a:rPr sz="880">
                <a:solidFill>
                  <a:srgbClr val="0F172A"/>
                </a:solidFill>
              </a:rPr>
              <a:t>Purges null IDs, isolates returns (^C), caps Tukey bulk outliers.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UC-03: Compute Vectorized RFM [Analytics Engineer]: </a:t>
            </a:r>
            <a:r>
              <a:rPr sz="880">
                <a:solidFill>
                  <a:srgbClr val="0F172A"/>
                </a:solidFill>
              </a:rPr>
              <a:t>Aggregates transactions into customer Recency, Frequency, and Spend.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UC-04: Train &amp; Tune K-Means Model [Data Scientist]: </a:t>
            </a:r>
            <a:r>
              <a:rPr sz="880">
                <a:solidFill>
                  <a:srgbClr val="0F172A"/>
                </a:solidFill>
              </a:rPr>
              <a:t>Applies log1p + StandardScaler, evaluates Elbow/Silhouette, fits k=4.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UC-05: Inspect Executive KPI Metrics [Commercial Executive]: </a:t>
            </a:r>
            <a:r>
              <a:rPr sz="880">
                <a:solidFill>
                  <a:srgbClr val="0F172A"/>
                </a:solidFill>
              </a:rPr>
              <a:t>Monitors portfolio health ($65k spend), Champions share (72.5%), at-risk capital.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1E1B4B"/>
                </a:solidFill>
              </a:rPr>
              <a:t>UC-06: Export Targeted CRM Audiences [Marketing Manager]: </a:t>
            </a:r>
            <a:r>
              <a:rPr sz="880">
                <a:solidFill>
                  <a:srgbClr val="0F172A"/>
                </a:solidFill>
              </a:rPr>
              <a:t>Filters segments in activation ledger and exports audience lists for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A003C"/>
                </a:solidFill>
                <a:latin typeface="Arial"/>
              </a:defRPr>
            </a:pPr>
            <a:r>
              <a:t>MILESTONE TRACKING  •  CE-502 / PRJ-701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B4B"/>
                </a:solidFill>
                <a:latin typeface="Arial"/>
              </a:defRPr>
            </a:pPr>
            <a:r>
              <a:t>Milestone Evaluation Schedule &amp; Project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3200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1556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B.Sc. in Artificial Intelligence &amp; Data Science (Sem V)  •  Institute of Advanced Research  •  First Progress Work (24/09/2026)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A003C"/>
                </a:solidFill>
              </a:defRPr>
            </a:pPr>
            <a:r>
              <a:t>Formal Assessment Schedule &amp; Deliverable Tracking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10B981"/>
                </a:solidFill>
              </a:rPr>
              <a:t>• [24/09/2026]  First Progress Work Evaluation (10 Marks) — </a:t>
            </a:r>
            <a:r>
              <a:rPr b="1" sz="1050">
                <a:solidFill>
                  <a:srgbClr val="10B981"/>
                </a:solidFill>
              </a:rPr>
              <a:t>COMPLETED (Current Submission)
</a:t>
            </a:r>
            <a:r>
              <a:rPr sz="950">
                <a:solidFill>
                  <a:srgbClr val="0F172A"/>
                </a:solidFill>
              </a:rPr>
              <a:t>   Scope: Sections 1.1, 1.2, 1.3, 2.1, 2.2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2563EB"/>
                </a:solidFill>
              </a:rPr>
              <a:t>• [13/10/2026]  Mid-Term Examination (Second Progress) (20 Marks) — </a:t>
            </a:r>
            <a:r>
              <a:rPr b="1" sz="1050">
                <a:solidFill>
                  <a:srgbClr val="2563EB"/>
                </a:solidFill>
              </a:rPr>
              <a:t>Scheduled for Next Milestone
</a:t>
            </a:r>
            <a:r>
              <a:rPr sz="950">
                <a:solidFill>
                  <a:srgbClr val="0F172A"/>
                </a:solidFill>
              </a:rPr>
              <a:t>   Scope: 2.3 (Class Diagram), 2.4 (Sequence Diagrams), 3.1 (Data Dictionary), 4.1 (UI Layouts)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75569"/>
                </a:solidFill>
              </a:rPr>
              <a:t>• [27/10/2026]  Third Progress Work Evaluation (10 Marks) — </a:t>
            </a:r>
            <a:r>
              <a:rPr b="1" sz="1050">
                <a:solidFill>
                  <a:srgbClr val="475569"/>
                </a:solidFill>
              </a:rPr>
              <a:t>Scheduled for Third Milestone
</a:t>
            </a:r>
            <a:r>
              <a:rPr sz="950">
                <a:solidFill>
                  <a:srgbClr val="0F172A"/>
                </a:solidFill>
              </a:rPr>
              <a:t>   Scope: 4.2 (Sample Coding), 4.3 (Navigation), 5.1-5.2 (Conclusion), 6.1 (References)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475569"/>
                </a:solidFill>
              </a:rPr>
              <a:t>• [06/11/2026]  Report Submission (Spiral Binding) (10 Marks) — </a:t>
            </a:r>
            <a:r>
              <a:rPr b="1" sz="1050">
                <a:solidFill>
                  <a:srgbClr val="475569"/>
                </a:solidFill>
              </a:rPr>
              <a:t>Scheduled for Final Submission
</a:t>
            </a:r>
            <a:r>
              <a:rPr sz="950">
                <a:solidFill>
                  <a:srgbClr val="0F172A"/>
                </a:solidFill>
              </a:rPr>
              <a:t>   Scope: Final Signed Spiral Copy &amp; Project Media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7A003C"/>
                </a:solidFill>
              </a:rPr>
              <a:t>• [18-20/11/2026]  Final Examination (SEE) (50 Marks) — </a:t>
            </a:r>
            <a:r>
              <a:rPr b="1" sz="1050">
                <a:solidFill>
                  <a:srgbClr val="7A003C"/>
                </a:solidFill>
              </a:rPr>
              <a:t>Scheduled for Semester Examination
</a:t>
            </a:r>
            <a:r>
              <a:rPr sz="950">
                <a:solidFill>
                  <a:srgbClr val="0F172A"/>
                </a:solidFill>
              </a:rPr>
              <a:t>   Scope: Project Execution Demonstration &amp; Viva Voce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120640"/>
            <a:ext cx="10180015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1663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0B981"/>
                </a:solidFill>
              </a:rPr>
              <a:t>MILESTONE STATUS SUMMARY (24/09/2026): </a:t>
            </a:r>
            <a:r>
              <a:rPr sz="950">
                <a:solidFill>
                  <a:srgbClr val="0F172A"/>
                </a:solidFill>
              </a:rPr>
              <a:t>All deliverables for the First Progress Work milestone (10 Marks) have been successfully engineered, verified, and compiled into the 10-page report and interactive demonstration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003C"/>
          </a:solidFill>
          <a:ln>
            <a:solidFill>
              <a:srgbClr val="7A0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1B4B"/>
          </a:solidFill>
          <a:ln>
            <a:solidFill>
              <a:srgbClr val="1E1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ar_banner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7200"/>
            <a:ext cx="5029200" cy="8765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4592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7A003C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1E1B4B"/>
                </a:solidFill>
                <a:latin typeface="Arial"/>
              </a:defRPr>
            </a:pPr>
            <a:r>
              <a:t>Questions &amp; Technical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108960"/>
            <a:ext cx="7619695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246120"/>
            <a:ext cx="707105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1B4B"/>
                </a:solidFill>
                <a:latin typeface="Arial"/>
              </a:defRPr>
            </a:pPr>
            <a:r>
              <a:t>E-COMMERCE CUSTOMER LIFECYCLE &amp; RFM SEGMENTATION DASHBOARD</a:t>
            </a:r>
          </a:p>
          <a:p>
            <a:pPr algn="ctr">
              <a:defRPr sz="850">
                <a:solidFill>
                  <a:srgbClr val="7A003C"/>
                </a:solidFill>
              </a:defRPr>
            </a:pPr>
            <a:r>
              <a:t>━━━━━━━━━━━━━━━━━━━━━━━━━━━━━━━━━━━━━━━━━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Candidate: </a:t>
            </a:r>
            <a:r>
              <a:rPr sz="1000">
                <a:solidFill>
                  <a:srgbClr val="475569"/>
                </a:solidFill>
              </a:rPr>
              <a:t>Mr. Deep Koshiya (B.Sc. in AI &amp; Data Science, Semester V)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Institution: </a:t>
            </a:r>
            <a:r>
              <a:rPr sz="1000">
                <a:solidFill>
                  <a:srgbClr val="475569"/>
                </a:solidFill>
              </a:rPr>
              <a:t>Institute of Advanced Research (IAR), Gandhinagar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Assessment Milestone: </a:t>
            </a:r>
            <a:r>
              <a:rPr sz="1000">
                <a:solidFill>
                  <a:srgbClr val="475569"/>
                </a:solidFill>
              </a:rPr>
              <a:t>First Progress Work (24/09/2026  •  10 Marks)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Course &amp; Project: </a:t>
            </a:r>
            <a:r>
              <a:rPr sz="1000">
                <a:solidFill>
                  <a:srgbClr val="475569"/>
                </a:solidFill>
              </a:rPr>
              <a:t>Project - 1 (CE-502 / PRJ-701)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GitHub Repository: </a:t>
            </a:r>
            <a:r>
              <a:rPr sz="1000">
                <a:solidFill>
                  <a:srgbClr val="475569"/>
                </a:solidFill>
              </a:rPr>
              <a:t>https://github.com/Deep-k-coder/ecommerce-rfm-analytics</a:t>
            </a:r>
          </a:p>
          <a:p>
            <a:pPr algn="ctr">
              <a:spcBef>
                <a:spcPts val="300"/>
              </a:spcBef>
            </a:pPr>
            <a:r>
              <a:rPr b="1" sz="1000">
                <a:solidFill>
                  <a:srgbClr val="0F172A"/>
                </a:solidFill>
              </a:rPr>
              <a:t>Project Status: </a:t>
            </a:r>
            <a:r>
              <a:rPr sz="1000">
                <a:solidFill>
                  <a:srgbClr val="475569"/>
                </a:solidFill>
              </a:rPr>
              <a:t>Refinery Pipeline, RFM Engine, UML/DFD Models &amp; Dashboard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