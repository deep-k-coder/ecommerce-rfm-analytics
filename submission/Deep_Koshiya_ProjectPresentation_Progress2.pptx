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A003C"/>
          </a:solidFill>
          <a:ln>
            <a:solidFill>
              <a:srgbClr val="7A0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ar_banner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11480"/>
            <a:ext cx="5029200" cy="8765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5087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7A003C"/>
                </a:solidFill>
                <a:latin typeface="Arial"/>
              </a:defRPr>
            </a:pPr>
            <a:r>
              <a:t>INSTITUTE OF ADVANCED RESEARCH (IAR)</a:t>
            </a:r>
          </a:p>
          <a:p>
            <a:pPr algn="ctr">
              <a:defRPr sz="1100" i="1">
                <a:solidFill>
                  <a:srgbClr val="475569"/>
                </a:solidFill>
                <a:latin typeface="Arial"/>
              </a:defRPr>
            </a:pPr>
            <a:r>
              <a:t>The University for Innovation  |  Gandhinagar, Gujarat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148840"/>
            <a:ext cx="6705295" cy="38404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2148840"/>
            <a:ext cx="670529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Arial"/>
              </a:defRPr>
            </a:pPr>
            <a:r>
              <a:t>SECOND PROGRESS WORK (MID-TERM EXAM)  •  13TH OCTOBER 2026  •  20 MARKS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36289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1B4B"/>
                </a:solidFill>
                <a:latin typeface="Arial"/>
              </a:defRPr>
            </a:pPr>
            <a:r>
              <a:t>E-COMMERCE CUSTOMER LIFECYCLE &amp;</a:t>
            </a:r>
            <a:br/>
            <a:r>
              <a:t>RFM SEGMENTATION DASHBOARD</a:t>
            </a:r>
          </a:p>
          <a:p>
            <a:pPr algn="ctr">
              <a:defRPr sz="1300" i="1">
                <a:solidFill>
                  <a:srgbClr val="7A003C"/>
                </a:solidFill>
                <a:latin typeface="Arial"/>
              </a:defRPr>
            </a:pPr>
            <a:r>
              <a:t>Second Phase Technical Report: UML Class &amp; Sequence Models, Data Dictionary &amp; UI Layout Validations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114800"/>
            <a:ext cx="457200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425196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A003C"/>
                </a:solidFill>
                <a:latin typeface="Arial"/>
              </a:defRPr>
            </a:pPr>
            <a:r>
              <a:t>PROJECT SCHOLAR</a:t>
            </a:r>
          </a:p>
          <a:p>
            <a:r>
              <a:rPr b="1" sz="1000">
                <a:solidFill>
                  <a:srgbClr val="0F172A"/>
                </a:solidFill>
              </a:rPr>
              <a:t>Candidate Name: </a:t>
            </a:r>
            <a:r>
              <a:rPr sz="1000">
                <a:solidFill>
                  <a:srgbClr val="0F172A"/>
                </a:solidFill>
              </a:rPr>
              <a:t>Mr. Deep Koshiya</a:t>
            </a:r>
          </a:p>
          <a:p>
            <a:r>
              <a:rPr b="1" sz="1000">
                <a:solidFill>
                  <a:srgbClr val="0F172A"/>
                </a:solidFill>
              </a:rPr>
              <a:t>Program: </a:t>
            </a:r>
            <a:r>
              <a:rPr sz="1000">
                <a:solidFill>
                  <a:srgbClr val="0F172A"/>
                </a:solidFill>
              </a:rPr>
              <a:t>B.Sc. in AI &amp; Data Science</a:t>
            </a:r>
          </a:p>
          <a:p>
            <a:r>
              <a:rPr b="1" sz="1000">
                <a:solidFill>
                  <a:srgbClr val="0F172A"/>
                </a:solidFill>
              </a:rPr>
              <a:t>Semester: </a:t>
            </a:r>
            <a:r>
              <a:rPr sz="1000">
                <a:solidFill>
                  <a:srgbClr val="0F172A"/>
                </a:solidFill>
              </a:rPr>
              <a:t>Semester V (5th Semester)</a:t>
            </a:r>
          </a:p>
          <a:p>
            <a:r>
              <a:rPr b="1" sz="1000">
                <a:solidFill>
                  <a:srgbClr val="0F172A"/>
                </a:solidFill>
              </a:rPr>
              <a:t>Academic Year: </a:t>
            </a:r>
            <a:r>
              <a:rPr sz="1000">
                <a:solidFill>
                  <a:srgbClr val="0F172A"/>
                </a:solidFill>
              </a:rPr>
              <a:t>2026 – 2027</a:t>
            </a:r>
          </a:p>
          <a:p>
            <a:r>
              <a:rPr b="1" sz="1000">
                <a:solidFill>
                  <a:srgbClr val="0F172A"/>
                </a:solidFill>
              </a:rPr>
              <a:t>Course: </a:t>
            </a:r>
            <a:r>
              <a:rPr sz="1000">
                <a:solidFill>
                  <a:srgbClr val="0F172A"/>
                </a:solidFill>
              </a:rPr>
              <a:t>Project - 1 (CE-502 / PRJ-701)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457200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5196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A003C"/>
                </a:solidFill>
                <a:latin typeface="Arial"/>
              </a:defRPr>
            </a:pPr>
            <a:r>
              <a:t>EVALUATION &amp; DELIVERABLE SCOPE</a:t>
            </a:r>
          </a:p>
          <a:p>
            <a:r>
              <a:rPr b="1" sz="1000">
                <a:solidFill>
                  <a:srgbClr val="0F172A"/>
                </a:solidFill>
              </a:rPr>
              <a:t>Milestone: </a:t>
            </a:r>
            <a:r>
              <a:rPr sz="1000">
                <a:solidFill>
                  <a:srgbClr val="0F172A"/>
                </a:solidFill>
              </a:rPr>
              <a:t>Second Progress Work (Mid-Term)</a:t>
            </a:r>
          </a:p>
          <a:p>
            <a:r>
              <a:rPr b="1" sz="1000">
                <a:solidFill>
                  <a:srgbClr val="0F172A"/>
                </a:solidFill>
              </a:rPr>
              <a:t>Evaluation Date: </a:t>
            </a:r>
            <a:r>
              <a:rPr sz="1000">
                <a:solidFill>
                  <a:srgbClr val="0F172A"/>
                </a:solidFill>
              </a:rPr>
              <a:t>13th October 2026 (10 AM - 5 PM)</a:t>
            </a:r>
          </a:p>
          <a:p>
            <a:r>
              <a:rPr b="1" sz="1000">
                <a:solidFill>
                  <a:srgbClr val="0F172A"/>
                </a:solidFill>
              </a:rPr>
              <a:t>Marks Allotted: </a:t>
            </a:r>
            <a:r>
              <a:rPr sz="1000">
                <a:solidFill>
                  <a:srgbClr val="0F172A"/>
                </a:solidFill>
              </a:rPr>
              <a:t>20 Marks (Mid-Term Assessment)</a:t>
            </a:r>
          </a:p>
          <a:p>
            <a:r>
              <a:rPr b="1" sz="1000">
                <a:solidFill>
                  <a:srgbClr val="0F172A"/>
                </a:solidFill>
              </a:rPr>
              <a:t>Syllabus Scope: </a:t>
            </a:r>
            <a:r>
              <a:rPr sz="1000">
                <a:solidFill>
                  <a:srgbClr val="0F172A"/>
                </a:solidFill>
              </a:rPr>
              <a:t>Sections 2.3, 2.4, 3.1, 4.1</a:t>
            </a:r>
          </a:p>
          <a:p>
            <a:r>
              <a:rPr b="1" sz="1000">
                <a:solidFill>
                  <a:srgbClr val="0F172A"/>
                </a:solidFill>
              </a:rPr>
              <a:t>Supervision: </a:t>
            </a:r>
            <a:r>
              <a:rPr sz="1000">
                <a:solidFill>
                  <a:srgbClr val="0F172A"/>
                </a:solidFill>
              </a:rPr>
              <a:t>Assigned Project Supervisor (IAR)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003C"/>
          </a:solidFill>
          <a:ln>
            <a:solidFill>
              <a:srgbClr val="7A0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A003C"/>
                </a:solidFill>
                <a:latin typeface="Arial"/>
              </a:defRPr>
            </a:pPr>
            <a:r>
              <a:t>PROGRESSIVE ARCHITECTURE  • 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B4B"/>
                </a:solidFill>
                <a:latin typeface="Arial"/>
              </a:defRPr>
            </a:pPr>
            <a:r>
              <a:t>System Architecture &amp; Phase 1 Foundations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Arial"/>
              </a:defRPr>
            </a:pPr>
            <a:r>
              <a:t>02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B.Sc. in Artificial Intelligence &amp; Data Science (Sem V)  •  Institute of Advanced Research  •  Second Progress Work (13/10/2026)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28416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30540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7A003C"/>
                </a:solidFill>
              </a:defRPr>
            </a:pPr>
            <a:r>
              <a:t>1. Phase 1 Foundations (10 Marks)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E1B4B"/>
                </a:solidFill>
              </a:rPr>
              <a:t>• Problem Formulation (1.1): </a:t>
            </a:r>
            <a:r>
              <a:rPr sz="950">
                <a:solidFill>
                  <a:srgbClr val="0F172A"/>
                </a:solidFill>
              </a:rPr>
              <a:t>Defined retention economics, surging CAC, and OLTP operational gaps.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E1B4B"/>
                </a:solidFill>
              </a:rPr>
              <a:t>• Requirement Matrix (1.2): </a:t>
            </a:r>
            <a:r>
              <a:rPr sz="950">
                <a:solidFill>
                  <a:srgbClr val="0F172A"/>
                </a:solidFill>
              </a:rPr>
              <a:t>Specified FR-01 through FR-06 and NFR-01 to NFR-03 with hardware specs.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E1B4B"/>
                </a:solidFill>
              </a:rPr>
              <a:t>• Tech Stack Layering (1.3): </a:t>
            </a:r>
            <a:r>
              <a:rPr sz="950">
                <a:solidFill>
                  <a:srgbClr val="0F172A"/>
                </a:solidFill>
              </a:rPr>
              <a:t>Configured Python 3.9, Pandas 2.3, Scikit-Learn 1.6, and Chart.js.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E1B4B"/>
                </a:solidFill>
              </a:rPr>
              <a:t>• DFD Architecture (2.1): </a:t>
            </a:r>
            <a:r>
              <a:rPr sz="950">
                <a:solidFill>
                  <a:srgbClr val="0F172A"/>
                </a:solidFill>
              </a:rPr>
              <a:t>Constructed Context Level 0, Level 1 Pipeline, and Level 2 Decomposition DFDs.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371600"/>
            <a:ext cx="3328416" cy="47548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1508760"/>
            <a:ext cx="30540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B981"/>
                </a:solidFill>
              </a:defRPr>
            </a:pPr>
            <a:r>
              <a:t>2. Phase 2 Deliverables (20 Marks)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E1B4B"/>
                </a:solidFill>
              </a:rPr>
              <a:t>• UML Class Diagram (2.3): </a:t>
            </a:r>
            <a:r>
              <a:rPr sz="950">
                <a:solidFill>
                  <a:srgbClr val="0F172A"/>
                </a:solidFill>
              </a:rPr>
              <a:t>Domain entity model &amp; pipeline class architecture (TransactionRecord, Refinery, RFM, KMeans).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E1B4B"/>
                </a:solidFill>
              </a:rPr>
              <a:t>• UML Sequence Diagram (2.4): </a:t>
            </a:r>
            <a:r>
              <a:rPr sz="950">
                <a:solidFill>
                  <a:srgbClr val="0F172A"/>
                </a:solidFill>
              </a:rPr>
              <a:t>11-step synchronous/asynchronous message dispatch protocol across system lifelines.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E1B4B"/>
                </a:solidFill>
              </a:rPr>
              <a:t>• Data Dictionary (3.1): </a:t>
            </a:r>
            <a:r>
              <a:rPr sz="950">
                <a:solidFill>
                  <a:srgbClr val="0F172A"/>
                </a:solidFill>
              </a:rPr>
              <a:t>Complete star-schema catalog: FACT_TRANSACTIONS, FACT_REVERSALS, DIM_CUSTOMERS.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E1B4B"/>
                </a:solidFill>
              </a:rPr>
              <a:t>• Screen Layouts (4.1): </a:t>
            </a:r>
            <a:r>
              <a:rPr sz="950">
                <a:solidFill>
                  <a:srgbClr val="0F172A"/>
                </a:solidFill>
              </a:rPr>
              <a:t>Multi-screen UI layouts with operational input validations (VAL-01 to VAL-04).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371600"/>
            <a:ext cx="3328416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2" y="1508760"/>
            <a:ext cx="30540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7A003C"/>
                </a:solidFill>
              </a:defRPr>
            </a:pPr>
            <a:r>
              <a:t>3. Technical Value Proposition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E1B4B"/>
                </a:solidFill>
              </a:rPr>
              <a:t>• Zero Data Leakage: </a:t>
            </a:r>
            <a:r>
              <a:rPr sz="950">
                <a:solidFill>
                  <a:srgbClr val="0F172A"/>
                </a:solidFill>
              </a:rPr>
              <a:t>Strict segregation of reversals ensures return items never pollute positive purchase frequency counts.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E1B4B"/>
                </a:solidFill>
              </a:rPr>
              <a:t>• Skew-Resistant Clustering: </a:t>
            </a:r>
            <a:r>
              <a:rPr sz="950">
                <a:solidFill>
                  <a:srgbClr val="0F172A"/>
                </a:solidFill>
              </a:rPr>
              <a:t>Log1p scaling neutralizes Pareto monetary power laws for robust K-Means clustering.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E1B4B"/>
                </a:solidFill>
              </a:rPr>
              <a:t>• BI Mart Compatibility: </a:t>
            </a:r>
            <a:r>
              <a:rPr sz="950">
                <a:solidFill>
                  <a:srgbClr val="0F172A"/>
                </a:solidFill>
              </a:rPr>
              <a:t>Star schema facilitates native query performance in Tableau, Power BI, and SQL engines.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E1B4B"/>
                </a:solidFill>
              </a:rPr>
              <a:t>• Instant CRM Activation: </a:t>
            </a:r>
            <a:r>
              <a:rPr sz="950">
                <a:solidFill>
                  <a:srgbClr val="0F172A"/>
                </a:solidFill>
              </a:rPr>
              <a:t>Interactive UI enables commercial teams to filter and export high-value at-risk cohorts instantly.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003C"/>
          </a:solidFill>
          <a:ln>
            <a:solidFill>
              <a:srgbClr val="7A0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A003C"/>
                </a:solidFill>
                <a:latin typeface="Arial"/>
              </a:defRPr>
            </a:pPr>
            <a:r>
              <a:t>SECTION 2.3  • 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B4B"/>
                </a:solidFill>
                <a:latin typeface="Arial"/>
              </a:defRPr>
            </a:pPr>
            <a:r>
              <a:t>UML Class Diagram (Domain Model &amp; Object Architecture)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Arial"/>
              </a:defRPr>
            </a:pPr>
            <a:r>
              <a:t>03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B.Sc. in Artificial Intelligence &amp; Data Science (Sem V)  •  Institute of Advanced Research  •  Second Progress Work (13/10/2026)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621792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54480"/>
            <a:ext cx="5943600" cy="3714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71500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475569"/>
                </a:solidFill>
              </a:defRPr>
            </a:pPr>
            <a:r>
              <a:t>Figure 2.5: UML Class Diagram (Domain Model &amp; Pipeline Services)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371600"/>
            <a:ext cx="4236415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50876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7A003C"/>
                </a:solidFill>
              </a:defRPr>
            </a:pPr>
            <a:r>
              <a:t>Core Pipeline Classes &amp; Relationships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• TransactionRecord: </a:t>
            </a:r>
            <a:r>
              <a:rPr sz="880">
                <a:solidFill>
                  <a:srgbClr val="0F172A"/>
                </a:solidFill>
              </a:rPr>
              <a:t>Domain entity representing single line-item purchases with validation and pricing methods.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• CleanRefineryPipeline: </a:t>
            </a:r>
            <a:r>
              <a:rPr sz="880">
                <a:solidFill>
                  <a:srgbClr val="0F172A"/>
                </a:solidFill>
              </a:rPr>
              <a:t>Orchestrates ingestion, typing, guest session filtering, reversal quarantine, and Tukey IQR capping.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• RFMFeatureEngineer: </a:t>
            </a:r>
            <a:r>
              <a:rPr sz="880">
                <a:solidFill>
                  <a:srgbClr val="0F172A"/>
                </a:solidFill>
              </a:rPr>
              <a:t>Vectorized engine computing customer Recency (T_obs), Frequency, Spend, and AOV.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• KMeansSegmentationEngine: </a:t>
            </a:r>
            <a:r>
              <a:rPr sz="880">
                <a:solidFill>
                  <a:srgbClr val="0F172A"/>
                </a:solidFill>
              </a:rPr>
              <a:t>Encapsulates log1p compression, StandardScaler, K-Means fitting (k=4), and Silhouette diagnostics.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• QuantileStratifier: </a:t>
            </a:r>
            <a:r>
              <a:rPr sz="880">
                <a:solidFill>
                  <a:srgbClr val="0F172A"/>
                </a:solidFill>
              </a:rPr>
              <a:t>Assigns 1–5 quantile scores (pd.qcut) and maps accounts to 8 business operational cohorts.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• StarSchemaMartExporter: </a:t>
            </a:r>
            <a:r>
              <a:rPr sz="880">
                <a:solidFill>
                  <a:srgbClr val="0F172A"/>
                </a:solidFill>
              </a:rPr>
              <a:t>Generates FACT_TRANSACTIONS, FACT_REVERSALS, DIM_CUSTOMERS, and summary JSON.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003C"/>
          </a:solidFill>
          <a:ln>
            <a:solidFill>
              <a:srgbClr val="7A0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A003C"/>
                </a:solidFill>
                <a:latin typeface="Arial"/>
              </a:defRPr>
            </a:pPr>
            <a:r>
              <a:t>SECTION 2.4  •  EXECUTION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B4B"/>
                </a:solidFill>
                <a:latin typeface="Arial"/>
              </a:defRPr>
            </a:pPr>
            <a:r>
              <a:t>UML Sequence Diagram (Pipeline Execution Workflow)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Arial"/>
              </a:defRPr>
            </a:pPr>
            <a:r>
              <a:t>04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B.Sc. in Artificial Intelligence &amp; Data Science (Sem V)  •  Institute of Advanced Research  •  Second Progress Work (13/10/2026)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621792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sequen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54480"/>
            <a:ext cx="5943600" cy="3714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71500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475569"/>
                </a:solidFill>
              </a:defRPr>
            </a:pPr>
            <a:r>
              <a:t>Figure 2.6: UML Sequence Diagram (End-to-End Processing &amp; Activation)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371600"/>
            <a:ext cx="4236415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50876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7A003C"/>
                </a:solidFill>
              </a:defRPr>
            </a:pPr>
            <a:r>
              <a:t>11-Step Message Dispatch Protocol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• Step 1 (Trigger): </a:t>
            </a:r>
            <a:r>
              <a:rPr sz="880">
                <a:solidFill>
                  <a:srgbClr val="0F172A"/>
                </a:solidFill>
              </a:rPr>
              <a:t>Data Engineer initiates trigger_pipeline(raw_csv) to commence ingestion.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• Steps 2-3 (Refinery): </a:t>
            </a:r>
            <a:r>
              <a:rPr sz="880">
                <a:solidFill>
                  <a:srgbClr val="0F172A"/>
                </a:solidFill>
              </a:rPr>
              <a:t>Self-calls filter unauthenticated sessions, quarantine cancellations, and cap Tukey IQR outliers.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• Steps 4-5 (Feature Extraction): </a:t>
            </a:r>
            <a:r>
              <a:rPr sz="880">
                <a:solidFill>
                  <a:srgbClr val="0F172A"/>
                </a:solidFill>
              </a:rPr>
              <a:t>Cleansed records dispatched to RFMFeatureEngineer, deriving snapshot boundary T_obs.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• Steps 6-7 (ML Modeling): </a:t>
            </a:r>
            <a:r>
              <a:rPr sz="880">
                <a:solidFill>
                  <a:srgbClr val="0F172A"/>
                </a:solidFill>
              </a:rPr>
              <a:t>RFM Analytical Base Table dispatched to KMeansEngine for log1p scaling and k=4 clustering.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• Steps 8-9 (Data Mart Export): </a:t>
            </a:r>
            <a:r>
              <a:rPr sz="880">
                <a:solidFill>
                  <a:srgbClr val="0F172A"/>
                </a:solidFill>
              </a:rPr>
              <a:t>Segments and fact tables persisted to StarSchemaDataMart.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• Steps 10-11 (Activation): </a:t>
            </a:r>
            <a:r>
              <a:rPr sz="880">
                <a:solidFill>
                  <a:srgbClr val="0F172A"/>
                </a:solidFill>
              </a:rPr>
              <a:t>Summary JSON exported to ExecutiveDashboard, rendering KPI cards and spatial scatterplots.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003C"/>
          </a:solidFill>
          <a:ln>
            <a:solidFill>
              <a:srgbClr val="7A0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A003C"/>
                </a:solidFill>
                <a:latin typeface="Arial"/>
              </a:defRPr>
            </a:pPr>
            <a:r>
              <a:t>SECTION 3.1  •  DATA DICTIONARY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B4B"/>
                </a:solidFill>
                <a:latin typeface="Arial"/>
              </a:defRPr>
            </a:pPr>
            <a:r>
              <a:t>Data Dictionary: Fact Tables (FACT_TRANSACTIONS &amp; FACT_REVERSALS)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Arial"/>
              </a:defRPr>
            </a:pPr>
            <a:r>
              <a:t>05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B.Sc. in Artificial Intelligence &amp; Data Science (Sem V)  •  Institute of Advanced Research  •  Second Progress Work (13/10/2026)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A003C"/>
                </a:solidFill>
              </a:defRPr>
            </a:pPr>
            <a:r>
              <a:t>Table 3.1: FACT_TRANSACTIONS (Order Fact Mart)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1E1B4B"/>
                </a:solidFill>
              </a:rPr>
              <a:t>• transaction_id (BIGINT, PK): </a:t>
            </a:r>
            <a:r>
              <a:rPr sz="850">
                <a:solidFill>
                  <a:srgbClr val="0F172A"/>
                </a:solidFill>
              </a:rPr>
              <a:t>Surrogate primary key generated monotonically.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1E1B4B"/>
                </a:solidFill>
              </a:rPr>
              <a:t>• invoice_no (VARCHAR(20)): </a:t>
            </a:r>
            <a:r>
              <a:rPr sz="850">
                <a:solidFill>
                  <a:srgbClr val="0F172A"/>
                </a:solidFill>
              </a:rPr>
              <a:t>6-digit order identifier (e.g. 536365).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1E1B4B"/>
                </a:solidFill>
              </a:rPr>
              <a:t>• stock_code (VARCHAR(20), FK): </a:t>
            </a:r>
            <a:r>
              <a:rPr sz="850">
                <a:solidFill>
                  <a:srgbClr val="0F172A"/>
                </a:solidFill>
              </a:rPr>
              <a:t>Foreign key referencing DIM_PRODUCTS.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1E1B4B"/>
                </a:solidFill>
              </a:rPr>
              <a:t>• quantity (INTEGER): </a:t>
            </a:r>
            <a:r>
              <a:rPr sz="850">
                <a:solidFill>
                  <a:srgbClr val="0F172A"/>
                </a:solidFill>
              </a:rPr>
              <a:t>Item units purchased; strictly Quantity &gt; 0.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1E1B4B"/>
                </a:solidFill>
              </a:rPr>
              <a:t>• invoice_date (TIMESTAMP, FK): </a:t>
            </a:r>
            <a:r>
              <a:rPr sz="850">
                <a:solidFill>
                  <a:srgbClr val="0F172A"/>
                </a:solidFill>
              </a:rPr>
              <a:t>Transaction timestamp referencing DIM_DATE.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1E1B4B"/>
                </a:solidFill>
              </a:rPr>
              <a:t>• unit_price (DECIMAL(10,2)): </a:t>
            </a:r>
            <a:r>
              <a:rPr sz="850">
                <a:solidFill>
                  <a:srgbClr val="0F172A"/>
                </a:solidFill>
              </a:rPr>
              <a:t>Product sale unit price; strictly UnitPrice &gt; 0.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1E1B4B"/>
                </a:solidFill>
              </a:rPr>
              <a:t>• customer_id (VARCHAR(20), FK): </a:t>
            </a:r>
            <a:r>
              <a:rPr sz="850">
                <a:solidFill>
                  <a:srgbClr val="0F172A"/>
                </a:solidFill>
              </a:rPr>
              <a:t>Foreign key referencing DIM_CUSTOMERS.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1E1B4B"/>
                </a:solidFill>
              </a:rPr>
              <a:t>• gross_amount (DECIMAL(12,2)): </a:t>
            </a:r>
            <a:r>
              <a:rPr sz="850">
                <a:solidFill>
                  <a:srgbClr val="0F172A"/>
                </a:solidFill>
              </a:rPr>
              <a:t>Line spend: Quantity * UnitPrice.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42255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A003C"/>
                </a:solidFill>
              </a:defRPr>
            </a:pPr>
            <a:r>
              <a:t>Table 3.2: FACT_REVERSALS (Audit Fact Mart)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1E1B4B"/>
                </a:solidFill>
              </a:rPr>
              <a:t>• reversal_id (BIGINT, PK): </a:t>
            </a:r>
            <a:r>
              <a:rPr sz="850">
                <a:solidFill>
                  <a:srgbClr val="0F172A"/>
                </a:solidFill>
              </a:rPr>
              <a:t>Surrogate primary key for return audit records.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1E1B4B"/>
                </a:solidFill>
              </a:rPr>
              <a:t>• invoice_no (VARCHAR(20)): </a:t>
            </a:r>
            <a:r>
              <a:rPr sz="850">
                <a:solidFill>
                  <a:srgbClr val="0F172A"/>
                </a:solidFill>
              </a:rPr>
              <a:t>Cancellation invoice matching regex '^C[0-9]+'.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1E1B4B"/>
                </a:solidFill>
              </a:rPr>
              <a:t>• stock_code (VARCHAR(20), FK): </a:t>
            </a:r>
            <a:r>
              <a:rPr sz="850">
                <a:solidFill>
                  <a:srgbClr val="0F172A"/>
                </a:solidFill>
              </a:rPr>
              <a:t>Foreign key referencing returned product SKU.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1E1B4B"/>
                </a:solidFill>
              </a:rPr>
              <a:t>• return_quantity (INTEGER): </a:t>
            </a:r>
            <a:r>
              <a:rPr sz="850">
                <a:solidFill>
                  <a:srgbClr val="0F172A"/>
                </a:solidFill>
              </a:rPr>
              <a:t>Negative units returned (Quantity &lt; 0).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1E1B4B"/>
                </a:solidFill>
              </a:rPr>
              <a:t>• reversal_date (TIMESTAMP, FK): </a:t>
            </a:r>
            <a:r>
              <a:rPr sz="850">
                <a:solidFill>
                  <a:srgbClr val="0F172A"/>
                </a:solidFill>
              </a:rPr>
              <a:t>Timestamp when cancellation was processed.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1E1B4B"/>
                </a:solidFill>
              </a:rPr>
              <a:t>• unit_price (DECIMAL(10,2)): </a:t>
            </a:r>
            <a:r>
              <a:rPr sz="850">
                <a:solidFill>
                  <a:srgbClr val="0F172A"/>
                </a:solidFill>
              </a:rPr>
              <a:t>Original sale unit price of returned item.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1E1B4B"/>
                </a:solidFill>
              </a:rPr>
              <a:t>• customer_id (VARCHAR(20), FK): </a:t>
            </a:r>
            <a:r>
              <a:rPr sz="850">
                <a:solidFill>
                  <a:srgbClr val="0F172A"/>
                </a:solidFill>
              </a:rPr>
              <a:t>Foreign key referencing customer returning items.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1E1B4B"/>
                </a:solidFill>
              </a:rPr>
              <a:t>• Operational Integrity: </a:t>
            </a:r>
            <a:r>
              <a:rPr sz="850">
                <a:solidFill>
                  <a:srgbClr val="0F172A"/>
                </a:solidFill>
              </a:rPr>
              <a:t>Quarantined in fact_reversals_audit.csv to ensure return events never distort positive spend metrics.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003C"/>
          </a:solidFill>
          <a:ln>
            <a:solidFill>
              <a:srgbClr val="7A0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A003C"/>
                </a:solidFill>
                <a:latin typeface="Arial"/>
              </a:defRPr>
            </a:pPr>
            <a:r>
              <a:t>SECTION 3.1  •  DATA DICTIONARY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B4B"/>
                </a:solidFill>
                <a:latin typeface="Arial"/>
              </a:defRPr>
            </a:pPr>
            <a:r>
              <a:t>Data Dictionary: Dimension Tables (DIM_CUSTOMERS &amp; DIM_PRODUCTS)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Arial"/>
              </a:defRPr>
            </a:pPr>
            <a:r>
              <a:t>06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B.Sc. in Artificial Intelligence &amp; Data Science (Sem V)  •  Institute of Advanced Research  •  Second Progress Work (13/10/2026)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48640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A003C"/>
                </a:solidFill>
              </a:defRPr>
            </a:pPr>
            <a:r>
              <a:t>Table 3.3: DIM_CUSTOMERS (RFM Behavioral Mart)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1E1B4B"/>
                </a:solidFill>
              </a:rPr>
              <a:t>• customer_key (BIGINT, PK): </a:t>
            </a:r>
            <a:r>
              <a:rPr sz="850">
                <a:solidFill>
                  <a:srgbClr val="0F172A"/>
                </a:solidFill>
              </a:rPr>
              <a:t>Surrogate primary key for customer dimension.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1E1B4B"/>
                </a:solidFill>
              </a:rPr>
              <a:t>• customer_id (VARCHAR(20)): </a:t>
            </a:r>
            <a:r>
              <a:rPr sz="850">
                <a:solidFill>
                  <a:srgbClr val="0F172A"/>
                </a:solidFill>
              </a:rPr>
              <a:t>Unique authenticated natural customer ID.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1E1B4B"/>
                </a:solidFill>
              </a:rPr>
              <a:t>• recency_days (INTEGER): </a:t>
            </a:r>
            <a:r>
              <a:rPr sz="850">
                <a:solidFill>
                  <a:srgbClr val="0F172A"/>
                </a:solidFill>
              </a:rPr>
              <a:t>Days elapsed since last order relative to T_obs.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1E1B4B"/>
                </a:solidFill>
              </a:rPr>
              <a:t>• frequency_orders (INTEGER): </a:t>
            </a:r>
            <a:r>
              <a:rPr sz="850">
                <a:solidFill>
                  <a:srgbClr val="0F172A"/>
                </a:solidFill>
              </a:rPr>
              <a:t>Count of distinct checkout trips (unique orders).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1E1B4B"/>
                </a:solidFill>
              </a:rPr>
              <a:t>• monetary_total (DECIMAL(12,2)): </a:t>
            </a:r>
            <a:r>
              <a:rPr sz="850">
                <a:solidFill>
                  <a:srgbClr val="0F172A"/>
                </a:solidFill>
              </a:rPr>
              <a:t>Cumulative net customer spend across all valid orders.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1E1B4B"/>
                </a:solidFill>
              </a:rPr>
              <a:t>• avg_order_value (DECIMAL(10,2)): </a:t>
            </a:r>
            <a:r>
              <a:rPr sz="850">
                <a:solidFill>
                  <a:srgbClr val="0F172A"/>
                </a:solidFill>
              </a:rPr>
              <a:t>Average Order Value: Monetary / Frequency.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1E1B4B"/>
                </a:solidFill>
              </a:rPr>
              <a:t>• r_score, f_score, m_score (SMALLINT): </a:t>
            </a:r>
            <a:r>
              <a:rPr sz="850">
                <a:solidFill>
                  <a:srgbClr val="0F172A"/>
                </a:solidFill>
              </a:rPr>
              <a:t>Deterministic 1 to 5 quantile rank scores (pd.qcut).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1E1B4B"/>
                </a:solidFill>
              </a:rPr>
              <a:t>• segment_tier (VARCHAR(40)): </a:t>
            </a:r>
            <a:r>
              <a:rPr sz="850">
                <a:solidFill>
                  <a:srgbClr val="0F172A"/>
                </a:solidFill>
              </a:rPr>
              <a:t>Mapped business cohort ('Champions', 'At Risk Whales').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371600"/>
            <a:ext cx="4967935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0876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A003C"/>
                </a:solidFill>
              </a:defRPr>
            </a:pPr>
            <a:r>
              <a:t>Table 3.4 &amp; 3.5: DIM_PRODUCTS &amp; DIM_DATE</a:t>
            </a:r>
          </a:p>
          <a:p>
            <a:pPr>
              <a:spcBef>
                <a:spcPts val="200"/>
              </a:spcBef>
            </a:pPr>
            <a:r>
              <a:rPr b="1" sz="900">
                <a:solidFill>
                  <a:srgbClr val="1E1B4B"/>
                </a:solidFill>
              </a:rPr>
              <a:t>DIM_PRODUCTS Catalog Mart: </a:t>
            </a:r>
            <a:r>
              <a:rPr sz="850">
                <a:solidFill>
                  <a:srgbClr val="0F172A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b="1" sz="900">
                <a:solidFill>
                  <a:srgbClr val="1E1B4B"/>
                </a:solidFill>
              </a:rPr>
              <a:t>  • product_key (BIGINT, PK): </a:t>
            </a:r>
            <a:r>
              <a:rPr sz="850">
                <a:solidFill>
                  <a:srgbClr val="0F172A"/>
                </a:solidFill>
              </a:rPr>
              <a:t>Surrogate primary key for product catalog.</a:t>
            </a:r>
          </a:p>
          <a:p>
            <a:pPr>
              <a:spcBef>
                <a:spcPts val="200"/>
              </a:spcBef>
            </a:pPr>
            <a:r>
              <a:rPr b="1" sz="900">
                <a:solidFill>
                  <a:srgbClr val="1E1B4B"/>
                </a:solidFill>
              </a:rPr>
              <a:t>  • stock_code (VARCHAR(20)): </a:t>
            </a:r>
            <a:r>
              <a:rPr sz="850">
                <a:solidFill>
                  <a:srgbClr val="0F172A"/>
                </a:solidFill>
              </a:rPr>
              <a:t>Unique SKU inventory identifier.</a:t>
            </a:r>
          </a:p>
          <a:p>
            <a:pPr>
              <a:spcBef>
                <a:spcPts val="200"/>
              </a:spcBef>
            </a:pPr>
            <a:r>
              <a:rPr b="1" sz="900">
                <a:solidFill>
                  <a:srgbClr val="1E1B4B"/>
                </a:solidFill>
              </a:rPr>
              <a:t>  • description (VARCHAR(255)): </a:t>
            </a:r>
            <a:r>
              <a:rPr sz="850">
                <a:solidFill>
                  <a:srgbClr val="0F172A"/>
                </a:solidFill>
              </a:rPr>
              <a:t>Cleaned, sanitized item description text.</a:t>
            </a:r>
          </a:p>
          <a:p>
            <a:pPr>
              <a:spcBef>
                <a:spcPts val="200"/>
              </a:spcBef>
            </a:pPr>
            <a:r>
              <a:rPr b="1" sz="900">
                <a:solidFill>
                  <a:srgbClr val="1E1B4B"/>
                </a:solidFill>
              </a:rPr>
              <a:t>  • unit_price_ref (DECIMAL): </a:t>
            </a:r>
            <a:r>
              <a:rPr sz="850">
                <a:solidFill>
                  <a:srgbClr val="0F172A"/>
                </a:solidFill>
              </a:rPr>
              <a:t>Baseline catalog reference price.</a:t>
            </a:r>
          </a:p>
          <a:p>
            <a:pPr>
              <a:spcBef>
                <a:spcPts val="200"/>
              </a:spcBef>
            </a:pPr>
            <a:r>
              <a:rPr b="1" sz="900">
                <a:solidFill>
                  <a:srgbClr val="1E1B4B"/>
                </a:solidFill>
              </a:rPr>
              <a:t>DIM_DATE Temporal Mart: </a:t>
            </a:r>
            <a:r>
              <a:rPr sz="850">
                <a:solidFill>
                  <a:srgbClr val="0F172A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b="1" sz="900">
                <a:solidFill>
                  <a:srgbClr val="1E1B4B"/>
                </a:solidFill>
              </a:rPr>
              <a:t>  • date_key (INTEGER, PK): </a:t>
            </a:r>
            <a:r>
              <a:rPr sz="850">
                <a:solidFill>
                  <a:srgbClr val="0F172A"/>
                </a:solidFill>
              </a:rPr>
              <a:t>YYYYMMDD formatted integer key (e.g. 20261013).</a:t>
            </a:r>
          </a:p>
          <a:p>
            <a:pPr>
              <a:spcBef>
                <a:spcPts val="200"/>
              </a:spcBef>
            </a:pPr>
            <a:r>
              <a:rPr b="1" sz="900">
                <a:solidFill>
                  <a:srgbClr val="1E1B4B"/>
                </a:solidFill>
              </a:rPr>
              <a:t>  • full_date (DATE): </a:t>
            </a:r>
            <a:r>
              <a:rPr sz="850">
                <a:solidFill>
                  <a:srgbClr val="0F172A"/>
                </a:solidFill>
              </a:rPr>
              <a:t>Standard ISO-8601 calendar date.</a:t>
            </a:r>
          </a:p>
          <a:p>
            <a:pPr>
              <a:spcBef>
                <a:spcPts val="200"/>
              </a:spcBef>
            </a:pPr>
            <a:r>
              <a:rPr b="1" sz="900">
                <a:solidFill>
                  <a:srgbClr val="1E1B4B"/>
                </a:solidFill>
              </a:rPr>
              <a:t>  • day_of_week, month, quarter: </a:t>
            </a:r>
            <a:r>
              <a:rPr sz="850">
                <a:solidFill>
                  <a:srgbClr val="0F172A"/>
                </a:solidFill>
              </a:rPr>
              <a:t>Calendar attributes for cohort time-series.</a:t>
            </a:r>
          </a:p>
          <a:p>
            <a:pPr>
              <a:spcBef>
                <a:spcPts val="200"/>
              </a:spcBef>
            </a:pPr>
            <a:r>
              <a:rPr b="1" sz="900">
                <a:solidFill>
                  <a:srgbClr val="1E1B4B"/>
                </a:solidFill>
              </a:rPr>
              <a:t>  • is_weekend (BOOLEAN): </a:t>
            </a:r>
            <a:r>
              <a:rPr sz="850">
                <a:solidFill>
                  <a:srgbClr val="0F172A"/>
                </a:solidFill>
              </a:rPr>
              <a:t>Flag isolating weekend purchasing behavioral shifts.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003C"/>
          </a:solidFill>
          <a:ln>
            <a:solidFill>
              <a:srgbClr val="7A0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A003C"/>
                </a:solidFill>
                <a:latin typeface="Arial"/>
              </a:defRPr>
            </a:pPr>
            <a:r>
              <a:t>SECTION 4.1  • 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B4B"/>
                </a:solidFill>
                <a:latin typeface="Arial"/>
              </a:defRPr>
            </a:pPr>
            <a:r>
              <a:t>Screen Layouts: Executive BI Dashboard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Arial"/>
              </a:defRPr>
            </a:pPr>
            <a:r>
              <a:t>07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B.Sc. in Artificial Intelligence &amp; Data Science (Sem V)  •  Institute of Advanced Research  •  Second Progress Work (13/10/2026)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621792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screen_layo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54480"/>
            <a:ext cx="5943600" cy="396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71500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475569"/>
                </a:solidFill>
              </a:defRPr>
            </a:pPr>
            <a:r>
              <a:t>Figure 4.1: Implementation Screen Layouts (4 Synchronized Views)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371600"/>
            <a:ext cx="4236415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50876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7A003C"/>
                </a:solidFill>
              </a:defRPr>
            </a:pPr>
            <a:r>
              <a:t>4 Synchronized BI Dashboard Views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1E1B4B"/>
                </a:solidFill>
              </a:rPr>
              <a:t>• Screen 1: Executive KPI Scorecards: </a:t>
            </a:r>
            <a:r>
              <a:rPr sz="900">
                <a:solidFill>
                  <a:srgbClr val="0F172A"/>
                </a:solidFill>
              </a:rPr>
              <a:t>High-level summary displaying gross spend ($65,049.20), active customer accounts (256), average order value ($254.10), and at-risk revenue share (7.3%).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1E1B4B"/>
                </a:solidFill>
              </a:rPr>
              <a:t>• Screen 2: RFM Behavioral Scatterplot: </a:t>
            </a:r>
            <a:r>
              <a:rPr sz="900">
                <a:solidFill>
                  <a:srgbClr val="0F172A"/>
                </a:solidFill>
              </a:rPr>
              <a:t>Interactive 2D/3D canvas mapping Recency against Monetary Spend with bubble radii scaled to Frequency.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1E1B4B"/>
                </a:solidFill>
              </a:rPr>
              <a:t>• Screen 3: Customer Activation Ledger: </a:t>
            </a:r>
            <a:r>
              <a:rPr sz="900">
                <a:solidFill>
                  <a:srgbClr val="0F172A"/>
                </a:solidFill>
              </a:rPr>
              <a:t>Filterable data table with instant search, pagination, and targeted CSV audience export controls.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1E1B4B"/>
                </a:solidFill>
              </a:rPr>
              <a:t>• Screen 4: Reverse Logistics Audit Ledger: </a:t>
            </a:r>
            <a:r>
              <a:rPr sz="900">
                <a:solidFill>
                  <a:srgbClr val="0F172A"/>
                </a:solidFill>
              </a:rPr>
              <a:t>Isolated compliance table displaying quarantined cancellations and credit notes.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003C"/>
          </a:solidFill>
          <a:ln>
            <a:solidFill>
              <a:srgbClr val="7A0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A003C"/>
                </a:solidFill>
                <a:latin typeface="Arial"/>
              </a:defRPr>
            </a:pPr>
            <a:r>
              <a:t>SECTION 4.1  •  DATA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B4B"/>
                </a:solidFill>
                <a:latin typeface="Arial"/>
              </a:defRPr>
            </a:pPr>
            <a:r>
              <a:t>Implementation: Operational Input Validations (VAL-01 to VAL-04)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Arial"/>
              </a:defRPr>
            </a:pPr>
            <a:r>
              <a:t>08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B.Sc. in Artificial Intelligence &amp; Data Science (Sem V)  •  Institute of Advanced Research  •  Second Progress Work (13/10/2026)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10515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62895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A003C"/>
                </a:solidFill>
                <a:latin typeface="Arial"/>
              </a:rPr>
              <a:t>VAL-01: Scorecard Numerical Integrity Validation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F172A"/>
                </a:solidFill>
                <a:latin typeface="Arial"/>
              </a:rPr>
              <a:t>Enforces non-negative monetary constraints (Spend &gt;= 0.00). Active customer counts strictly verify unique authenticated non-null CustomerIDs. At-risk percentages are evaluated as: (Sum(Spend_AtRisk) / Total_Spend) * 100.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87752"/>
            <a:ext cx="10728655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60904"/>
            <a:ext cx="10362895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Arial"/>
              </a:rPr>
              <a:t>VAL-02: Spatial Canvas Coordinate &amp; Boundary Constraints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F172A"/>
                </a:solidFill>
                <a:latin typeface="Arial"/>
              </a:rPr>
              <a:t>Interactive scatterplot coordinates enforce strict domain bounds: Recency in [1..365], Frequency in [1..50], Spend in [0..10,000]. Hover tooltips execute null-safety checks before canvas event firing.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03904"/>
            <a:ext cx="10728655" cy="10515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77056"/>
            <a:ext cx="10362895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0B981"/>
                </a:solidFill>
                <a:latin typeface="Arial"/>
              </a:rPr>
              <a:t>VAL-03: Search Query Sanitization &amp; Pagination Bounds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F172A"/>
                </a:solidFill>
                <a:latin typeface="Arial"/>
              </a:rPr>
              <a:t>Client-side search input is sanitized against cross-site scripting (XSS) and SQL injection. Table pagination enforces bounded integer intervals (1 &lt;= Page &lt;= MaxPage).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0056"/>
            <a:ext cx="10728655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93208"/>
            <a:ext cx="10362895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1B4B"/>
                </a:solidFill>
                <a:latin typeface="Arial"/>
              </a:rPr>
              <a:t>VAL-04: Reverse Logistics Quarantine Constraint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F172A"/>
                </a:solidFill>
                <a:latin typeface="Arial"/>
              </a:rPr>
              <a:t>Cancellation transactions strictly enforce regex constraint (InvoiceNo.startswith('C')) and negative quantities (Quantity &lt; 0) before insertion into audit stores.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003C"/>
          </a:solidFill>
          <a:ln>
            <a:solidFill>
              <a:srgbClr val="7A0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A003C"/>
                </a:solidFill>
                <a:latin typeface="Arial"/>
              </a:defRPr>
            </a:pPr>
            <a:r>
              <a:t>MILESTONE TRACKING  •  CE-502 / PRJ-701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B4B"/>
                </a:solidFill>
                <a:latin typeface="Arial"/>
              </a:defRPr>
            </a:pPr>
            <a:r>
              <a:t>Project Evaluation Schedule &amp; Milestone Status (Mid-Term)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Arial"/>
              </a:defRPr>
            </a:pPr>
            <a:r>
              <a:t>09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B.Sc. in Artificial Intelligence &amp; Data Science (Sem V)  •  Institute of Advanced Research  •  Second Progress Work (13/10/2026)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3628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A003C"/>
                </a:solidFill>
              </a:defRPr>
            </a:pPr>
            <a:r>
              <a:t>Table 4.1: Comprehensive Project Progress Work Schedule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475569"/>
                </a:solidFill>
              </a:rPr>
              <a:t>• [24/09/2026]  First Progress Work Evaluation (10 Marks) — </a:t>
            </a:r>
            <a:r>
              <a:rPr b="1" sz="1050">
                <a:solidFill>
                  <a:srgbClr val="475569"/>
                </a:solidFill>
              </a:rPr>
              <a:t>COMPLETED &amp; VERIFIED
</a:t>
            </a:r>
            <a:r>
              <a:rPr sz="950">
                <a:solidFill>
                  <a:srgbClr val="0F172A"/>
                </a:solidFill>
              </a:rPr>
              <a:t>   Curriculum Scope: Sections 1.1, 1.2, 1.3, 2.1, 2.2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0B981"/>
                </a:solidFill>
              </a:rPr>
              <a:t>• [13/10/2026]  Mid-Term Examination (Second Progress) (20 Marks) — </a:t>
            </a:r>
            <a:r>
              <a:rPr b="1" sz="1050">
                <a:solidFill>
                  <a:srgbClr val="10B981"/>
                </a:solidFill>
              </a:rPr>
              <a:t>DEMONSTRATED (Current Submission)
</a:t>
            </a:r>
            <a:r>
              <a:rPr sz="950">
                <a:solidFill>
                  <a:srgbClr val="0F172A"/>
                </a:solidFill>
              </a:rPr>
              <a:t>   Curriculum Scope: Sections 2.3, 2.4, 3.1, 4.1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563EB"/>
                </a:solidFill>
              </a:rPr>
              <a:t>• [27/10/2026]  Third Progress Work Evaluation (10 Marks) — </a:t>
            </a:r>
            <a:r>
              <a:rPr b="1" sz="1050">
                <a:solidFill>
                  <a:srgbClr val="2563EB"/>
                </a:solidFill>
              </a:rPr>
              <a:t>Scheduled for Third Milestone
</a:t>
            </a:r>
            <a:r>
              <a:rPr sz="950">
                <a:solidFill>
                  <a:srgbClr val="0F172A"/>
                </a:solidFill>
              </a:rPr>
              <a:t>   Curriculum Scope: Sections 4.2 (Sample Code), 4.3 (Navigation), 5.1-5.2, 6.1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475569"/>
                </a:solidFill>
              </a:rPr>
              <a:t>• [06/11/2026]  Report Submission (Spiral Binding) (10 Marks) — </a:t>
            </a:r>
            <a:r>
              <a:rPr b="1" sz="1050">
                <a:solidFill>
                  <a:srgbClr val="475569"/>
                </a:solidFill>
              </a:rPr>
              <a:t>Scheduled for Final Submission
</a:t>
            </a:r>
            <a:r>
              <a:rPr sz="950">
                <a:solidFill>
                  <a:srgbClr val="0F172A"/>
                </a:solidFill>
              </a:rPr>
              <a:t>   Curriculum Scope: Final Signed Spiral Copy &amp; Media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7A003C"/>
                </a:solidFill>
              </a:rPr>
              <a:t>• [18-20/11/2026]  Final Examination (SEE) (50 Marks) — </a:t>
            </a:r>
            <a:r>
              <a:rPr b="1" sz="1050">
                <a:solidFill>
                  <a:srgbClr val="7A003C"/>
                </a:solidFill>
              </a:rPr>
              <a:t>Scheduled for Semester Examination
</a:t>
            </a:r>
            <a:r>
              <a:rPr sz="950">
                <a:solidFill>
                  <a:srgbClr val="0F172A"/>
                </a:solidFill>
              </a:rPr>
              <a:t>   Curriculum Scope: Project Execution Demonstration &amp; Viva Voce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5120640"/>
            <a:ext cx="10180015" cy="8229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1663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MID-TERM MILESTONE STATUS (13/10/2026): </a:t>
            </a:r>
            <a:r>
              <a:rPr sz="950">
                <a:solidFill>
                  <a:srgbClr val="0F172A"/>
                </a:solidFill>
              </a:rPr>
              <a:t>Cumulative completion of 30 Marks (First Progress 10 Marks + Mid-Term 20 Marks). All Class, Sequence, Data Dictionary, and UI Validation specifications fully implemented.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A003C"/>
          </a:solidFill>
          <a:ln>
            <a:solidFill>
              <a:srgbClr val="7A0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ar_banner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57200"/>
            <a:ext cx="5029200" cy="8765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645920"/>
            <a:ext cx="1036289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7A003C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defRPr sz="2000" b="1">
                <a:solidFill>
                  <a:srgbClr val="1E1B4B"/>
                </a:solidFill>
                <a:latin typeface="Arial"/>
              </a:defRPr>
            </a:pPr>
            <a:r>
              <a:t>Questions &amp; Technical Discussion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3108960"/>
            <a:ext cx="7619695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3246120"/>
            <a:ext cx="7071055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1B4B"/>
                </a:solidFill>
                <a:latin typeface="Arial"/>
              </a:defRPr>
            </a:pPr>
            <a:r>
              <a:t>E-COMMERCE CUSTOMER LIFECYCLE &amp; RFM SEGMENTATION DASHBOARD</a:t>
            </a:r>
          </a:p>
          <a:p>
            <a:pPr algn="ctr">
              <a:defRPr sz="850">
                <a:solidFill>
                  <a:srgbClr val="7A003C"/>
                </a:solidFill>
              </a:defRPr>
            </a:pPr>
            <a:r>
              <a:t>━━━━━━━━━━━━━━━━━━━━━━━━━━━━━━━━━━━━━━━━━</a:t>
            </a:r>
          </a:p>
          <a:p>
            <a:pPr algn="ctr">
              <a:spcBef>
                <a:spcPts val="300"/>
              </a:spcBef>
            </a:pPr>
            <a:r>
              <a:rPr b="1" sz="1000">
                <a:solidFill>
                  <a:srgbClr val="0F172A"/>
                </a:solidFill>
              </a:rPr>
              <a:t>Candidate: </a:t>
            </a:r>
            <a:r>
              <a:rPr sz="1000">
                <a:solidFill>
                  <a:srgbClr val="475569"/>
                </a:solidFill>
              </a:rPr>
              <a:t>Mr. Deep Koshiya (B.Sc. in AI &amp; Data Science, Semester V)</a:t>
            </a:r>
          </a:p>
          <a:p>
            <a:pPr algn="ctr">
              <a:spcBef>
                <a:spcPts val="300"/>
              </a:spcBef>
            </a:pPr>
            <a:r>
              <a:rPr b="1" sz="1000">
                <a:solidFill>
                  <a:srgbClr val="0F172A"/>
                </a:solidFill>
              </a:rPr>
              <a:t>Institution: </a:t>
            </a:r>
            <a:r>
              <a:rPr sz="1000">
                <a:solidFill>
                  <a:srgbClr val="475569"/>
                </a:solidFill>
              </a:rPr>
              <a:t>Institute of Advanced Research (IAR), Gandhinagar</a:t>
            </a:r>
          </a:p>
          <a:p>
            <a:pPr algn="ctr">
              <a:spcBef>
                <a:spcPts val="300"/>
              </a:spcBef>
            </a:pPr>
            <a:r>
              <a:rPr b="1" sz="1000">
                <a:solidFill>
                  <a:srgbClr val="0F172A"/>
                </a:solidFill>
              </a:rPr>
              <a:t>Assessment Milestone: </a:t>
            </a:r>
            <a:r>
              <a:rPr sz="1000">
                <a:solidFill>
                  <a:srgbClr val="475569"/>
                </a:solidFill>
              </a:rPr>
              <a:t>Second Progress Work / Mid-Term Exam (13/10/2026  •  20 Marks)</a:t>
            </a:r>
          </a:p>
          <a:p>
            <a:pPr algn="ctr">
              <a:spcBef>
                <a:spcPts val="300"/>
              </a:spcBef>
            </a:pPr>
            <a:r>
              <a:rPr b="1" sz="1000">
                <a:solidFill>
                  <a:srgbClr val="0F172A"/>
                </a:solidFill>
              </a:rPr>
              <a:t>Course &amp; Project: </a:t>
            </a:r>
            <a:r>
              <a:rPr sz="1000">
                <a:solidFill>
                  <a:srgbClr val="475569"/>
                </a:solidFill>
              </a:rPr>
              <a:t>Project - 1 (CE-502 / PRJ-701)</a:t>
            </a:r>
          </a:p>
          <a:p>
            <a:pPr algn="ctr">
              <a:spcBef>
                <a:spcPts val="300"/>
              </a:spcBef>
            </a:pPr>
            <a:r>
              <a:rPr b="1" sz="1000">
                <a:solidFill>
                  <a:srgbClr val="0F172A"/>
                </a:solidFill>
              </a:rPr>
              <a:t>GitHub Repository: </a:t>
            </a:r>
            <a:r>
              <a:rPr sz="1000">
                <a:solidFill>
                  <a:srgbClr val="475569"/>
                </a:solidFill>
              </a:rPr>
              <a:t>https://github.com/Deep-k-coder/ecommerce-rfm-analytics</a:t>
            </a:r>
          </a:p>
          <a:p>
            <a:pPr algn="ctr">
              <a:spcBef>
                <a:spcPts val="300"/>
              </a:spcBef>
            </a:pPr>
            <a:r>
              <a:rPr b="1" sz="1000">
                <a:solidFill>
                  <a:srgbClr val="0F172A"/>
                </a:solidFill>
              </a:rPr>
              <a:t>Project Status: </a:t>
            </a:r>
            <a:r>
              <a:rPr sz="1000">
                <a:solidFill>
                  <a:srgbClr val="475569"/>
                </a:solidFill>
              </a:rPr>
              <a:t>Class &amp; Sequence Diagrams, Star Schema Marts &amp; UI Validations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